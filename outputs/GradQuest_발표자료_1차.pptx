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9030514dad4f88" /><Relationship Type="http://schemas.openxmlformats.org/officeDocument/2006/relationships/extended-properties" Target="/docProps/app.xml" Id="R5cda398dbb414a98" /><Relationship Type="http://schemas.openxmlformats.org/officeDocument/2006/relationships/officeDocument" Target="/ppt/presentation.xml" Id="R402eec6b81164e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25c935c452404c"/>
  </p:sldMasterIdLst>
  <p:notesMasterIdLst>
    <p:notesMasterId xmlns:r="http://schemas.openxmlformats.org/officeDocument/2006/relationships" r:id="Rbfeeb849a26b41e3"/>
  </p:notesMasterIdLst>
  <p:sldIdLst>
    <p:sldId xmlns:r="http://schemas.openxmlformats.org/officeDocument/2006/relationships" id="256" r:id="Rebcb812ab53f428f"/>
    <p:sldId xmlns:r="http://schemas.openxmlformats.org/officeDocument/2006/relationships" id="257" r:id="R4910a56165bf4987"/>
    <p:sldId xmlns:r="http://schemas.openxmlformats.org/officeDocument/2006/relationships" id="258" r:id="Rb1ad7492fee64560"/>
    <p:sldId xmlns:r="http://schemas.openxmlformats.org/officeDocument/2006/relationships" id="259" r:id="R8a97ff4e6c0a42a7"/>
    <p:sldId xmlns:r="http://schemas.openxmlformats.org/officeDocument/2006/relationships" id="260" r:id="R66d4e9b113b64a73"/>
    <p:sldId xmlns:r="http://schemas.openxmlformats.org/officeDocument/2006/relationships" id="261" r:id="Rcffa1f5a91764481"/>
    <p:sldId xmlns:r="http://schemas.openxmlformats.org/officeDocument/2006/relationships" id="262" r:id="Rb161fd19290843c8"/>
    <p:sldId xmlns:r="http://schemas.openxmlformats.org/officeDocument/2006/relationships" id="263" r:id="Rb02a53849c6c498f"/>
    <p:sldId xmlns:r="http://schemas.openxmlformats.org/officeDocument/2006/relationships" id="264" r:id="R7997ccad01ab43a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48b93895374222" /><Relationship Type="http://schemas.openxmlformats.org/officeDocument/2006/relationships/slideMaster" Target="/ppt/slideMasters/slideMaster1.xml" Id="Rb825c935c452404c" /><Relationship Type="http://schemas.openxmlformats.org/officeDocument/2006/relationships/notesMaster" Target="/ppt/notesMasters/notesMaster1.xml" Id="Rbfeeb849a26b41e3" /><Relationship Type="http://schemas.openxmlformats.org/officeDocument/2006/relationships/presProps" Target="/ppt/presProps.xml" Id="R78d91f2965224594" /><Relationship Type="http://schemas.openxmlformats.org/officeDocument/2006/relationships/tableStyles" Target="/ppt/tableStyles.xml" Id="R458c8393a4064988" /><Relationship Type="http://schemas.openxmlformats.org/officeDocument/2006/relationships/slide" Target="/ppt/slides/slide1.xml" Id="Rebcb812ab53f428f" /><Relationship Type="http://schemas.openxmlformats.org/officeDocument/2006/relationships/slide" Target="/ppt/slides/slide2.xml" Id="R4910a56165bf4987" /><Relationship Type="http://schemas.openxmlformats.org/officeDocument/2006/relationships/slide" Target="/ppt/slides/slide3.xml" Id="Rb1ad7492fee64560" /><Relationship Type="http://schemas.openxmlformats.org/officeDocument/2006/relationships/slide" Target="/ppt/slides/slide4.xml" Id="R8a97ff4e6c0a42a7" /><Relationship Type="http://schemas.openxmlformats.org/officeDocument/2006/relationships/slide" Target="/ppt/slides/slide5.xml" Id="R66d4e9b113b64a73" /><Relationship Type="http://schemas.openxmlformats.org/officeDocument/2006/relationships/slide" Target="/ppt/slides/slide6.xml" Id="Rcffa1f5a91764481" /><Relationship Type="http://schemas.openxmlformats.org/officeDocument/2006/relationships/slide" Target="/ppt/slides/slide7.xml" Id="Rb161fd19290843c8" /><Relationship Type="http://schemas.openxmlformats.org/officeDocument/2006/relationships/slide" Target="/ppt/slides/slide8.xml" Id="Rb02a53849c6c498f" /><Relationship Type="http://schemas.openxmlformats.org/officeDocument/2006/relationships/slide" Target="/ppt/slides/slide9.xml" Id="R7997ccad01ab43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aad6f20c0f4c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4da1b070fb4b37" /><Relationship Type="http://schemas.openxmlformats.org/officeDocument/2006/relationships/notesMaster" Target="/ppt/notesMasters/notesMaster1.xml" Id="Re8c43dd376ee41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72e4dacbbe4a77" /><Relationship Type="http://schemas.openxmlformats.org/officeDocument/2006/relationships/notesMaster" Target="/ppt/notesMasters/notesMaster1.xml" Id="R951677add3e247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bab977b8374c00" /><Relationship Type="http://schemas.openxmlformats.org/officeDocument/2006/relationships/notesMaster" Target="/ppt/notesMasters/notesMaster1.xml" Id="Rdc298ede42f647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cb876e41f5408a" /><Relationship Type="http://schemas.openxmlformats.org/officeDocument/2006/relationships/notesMaster" Target="/ppt/notesMasters/notesMaster1.xml" Id="R809f2e7827814d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a6e2b598dd4543" /><Relationship Type="http://schemas.openxmlformats.org/officeDocument/2006/relationships/notesMaster" Target="/ppt/notesMasters/notesMaster1.xml" Id="R6cd648a97c7a47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7d9163d1d24b8a" /><Relationship Type="http://schemas.openxmlformats.org/officeDocument/2006/relationships/notesMaster" Target="/ppt/notesMasters/notesMaster1.xml" Id="R0c6b3050dcdd49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68bc6e813a45b4" /><Relationship Type="http://schemas.openxmlformats.org/officeDocument/2006/relationships/notesMaster" Target="/ppt/notesMasters/notesMaster1.xml" Id="Re2f49b72213047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b31cd8000e4723" /><Relationship Type="http://schemas.openxmlformats.org/officeDocument/2006/relationships/notesMaster" Target="/ppt/notesMasters/notesMaster1.xml" Id="R28015ef6a02240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45b7ef34d64b10" /><Relationship Type="http://schemas.openxmlformats.org/officeDocument/2006/relationships/notesMaster" Target="/ppt/notesMasters/notesMaster1.xml" Id="R83d726843c3d4a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fbd620eb0843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3fb931ad90464f" /><Relationship Type="http://schemas.openxmlformats.org/officeDocument/2006/relationships/slideLayout" Target="/ppt/slideLayouts/slideLayout1.xml" Id="R68947ef23d564f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947ef23d564f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f5d737f47421f" /><Relationship Type="http://schemas.openxmlformats.org/officeDocument/2006/relationships/notesSlide" Target="/ppt/notesSlides/notesSlide1.xml" Id="R463d00a643c94e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a4e54ad6b4ad6" /><Relationship Type="http://schemas.openxmlformats.org/officeDocument/2006/relationships/notesSlide" Target="/ppt/notesSlides/notesSlide2.xml" Id="R635bff5549834c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9794c26c74404" /><Relationship Type="http://schemas.openxmlformats.org/officeDocument/2006/relationships/notesSlide" Target="/ppt/notesSlides/notesSlide3.xml" Id="Rc70eba749a834e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4fd98b9d945fe" /><Relationship Type="http://schemas.openxmlformats.org/officeDocument/2006/relationships/notesSlide" Target="/ppt/notesSlides/notesSlide4.xml" Id="R5fa5dfe3719c4b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1836a1c394b61" /><Relationship Type="http://schemas.openxmlformats.org/officeDocument/2006/relationships/image" Target="/ppt/media/image.png" Id="Rdef41b2387784537" /><Relationship Type="http://schemas.openxmlformats.org/officeDocument/2006/relationships/notesSlide" Target="/ppt/notesSlides/notesSlide5.xml" Id="R6c30c181791448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e6b1141ea49e6" /><Relationship Type="http://schemas.openxmlformats.org/officeDocument/2006/relationships/image" Target="/ppt/media/image2.png" Id="Rf8bbfe6a10a844ef" /><Relationship Type="http://schemas.openxmlformats.org/officeDocument/2006/relationships/notesSlide" Target="/ppt/notesSlides/notesSlide6.xml" Id="R0b1340a64cc240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20d41f8274cfc" /><Relationship Type="http://schemas.openxmlformats.org/officeDocument/2006/relationships/image" Target="/ppt/media/image3.png" Id="R15f776156d4140bb" /><Relationship Type="http://schemas.openxmlformats.org/officeDocument/2006/relationships/notesSlide" Target="/ppt/notesSlides/notesSlide7.xml" Id="R1b5813783e8a4d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fe5a3e6874c47" /><Relationship Type="http://schemas.openxmlformats.org/officeDocument/2006/relationships/notesSlide" Target="/ppt/notesSlides/notesSlide8.xml" Id="R9bb0c43bd7134f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f34b56bd34259" /><Relationship Type="http://schemas.openxmlformats.org/officeDocument/2006/relationships/notesSlide" Target="/ppt/notesSlides/notesSlide9.xml" Id="R71e2a331a2be4b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ogo-mark">
            <a:extLst xmlns:a="http://schemas.openxmlformats.org/drawingml/2006/main">
              <a:ext uri="{FF2B5EF4-FFF2-40B4-BE49-F238E27FC236}">
                <a16:creationId xmlns:a16="http://schemas.microsoft.com/office/drawing/2014/main" id="{A5E7933D-8FED-4834-BDD7-C5D30CFE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28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GQ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5A1597E0-9A29-47C6-A4A6-D81A2D54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28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5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GradQuest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4EE9C97B-697B-4CA6-A856-65192D7E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000" b="1">
                <a:solidFill>
                  <a:srgbClr val="D6EAE3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D6EAE3"/>
                </a:solidFill>
                <a:latin typeface="Malgun Gothic"/>
                <a:ea typeface="Malgun Gothic"/>
                <a:cs typeface="Malgun Gothic"/>
              </a:rPr>
              <a:t>졸업요건 문서를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3000" b="1">
                <a:solidFill>
                  <a:srgbClr val="D6EAE3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D6EAE3"/>
                </a:solidFill>
                <a:latin typeface="Malgun Gothic"/>
                <a:ea typeface="Malgun Gothic"/>
                <a:cs typeface="Malgun Gothic"/>
              </a:rPr>
              <a:t>학생의 다음 행동으로</a:t>
            </a:r>
          </a:p>
        </p:txBody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0DF15B9D-A4DE-4078-AB06-3BA996AE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52550"/>
            <a:ext cx="2609850" cy="3619500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1855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ero-question">
            <a:extLst xmlns:a="http://schemas.openxmlformats.org/drawingml/2006/main">
              <a:ext uri="{FF2B5EF4-FFF2-40B4-BE49-F238E27FC236}">
                <a16:creationId xmlns:a16="http://schemas.microsoft.com/office/drawing/2014/main" id="{10B16635-6C71-4FF3-99FD-06DBEB77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90750"/>
            <a:ext cx="1952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나 졸업</a:t>
            </a:r>
          </a:p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가능해?</a:t>
            </a:r>
          </a:p>
        </p:txBody>
      </p:sp>
      <p:sp>
        <p:nvSpPr>
          <p:cNvPr id="6" name="team-line">
            <a:extLst xmlns:a="http://schemas.openxmlformats.org/drawingml/2006/main">
              <a:ext uri="{FF2B5EF4-FFF2-40B4-BE49-F238E27FC236}">
                <a16:creationId xmlns:a16="http://schemas.microsoft.com/office/drawing/2014/main" id="{33354609-D62D-4C36-B4A4-33010DA6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D6EAE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D6EAE3"/>
                </a:solidFill>
                <a:latin typeface="Malgun Gothic"/>
                <a:ea typeface="Malgun Gothic"/>
                <a:cs typeface="Malgun Gothic"/>
              </a:rPr>
              <a:t>AI Document Builders Challenge 2026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D6EAE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D6EAE3"/>
                </a:solidFill>
                <a:latin typeface="Malgun Gothic"/>
                <a:ea typeface="Malgun Gothic"/>
                <a:cs typeface="Malgun Gothic"/>
              </a:rPr>
              <a:t>Team 헌트릭스</a:t>
            </a:r>
          </a:p>
        </p:txBody>
      </p:sp>
    </p:spTree>
    <p:extLst>
      <p:ext uri="{BB962C8B-B14F-4D97-AF65-F5344CB8AC3E}">
        <p14:creationId xmlns:p14="http://schemas.microsoft.com/office/powerpoint/2010/main" val="5407731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">
            <a:extLst xmlns:a="http://schemas.openxmlformats.org/drawingml/2006/main">
              <a:ext uri="{FF2B5EF4-FFF2-40B4-BE49-F238E27FC236}">
                <a16:creationId xmlns:a16="http://schemas.microsoft.com/office/drawing/2014/main" id="{90F4FE3E-34F3-4C04-B09B-8B4BC39C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rPr>
              <a:t>02  THE PROBLEM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4F55C93B-CE2A-4C42-A43A-8383A67A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000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졸업 기준은 하나가 아니라 조합이다</a:t>
            </a:r>
          </a:p>
        </p:txBody>
      </p:sp>
      <p:sp>
        <p:nvSpPr>
          <p:cNvPr id="3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94291492-B31C-403D-A302-8AD00B40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같은 학과라도 학생마다 적용 규칙이 달라집니다.</a:t>
            </a:r>
          </a:p>
        </p:txBody>
      </p:sp>
      <p:sp>
        <p:nvSpPr>
          <p:cNvPr id="4" name="problem-number-0">
            <a:extLst xmlns:a="http://schemas.openxmlformats.org/drawingml/2006/main">
              <a:ext uri="{FF2B5EF4-FFF2-40B4-BE49-F238E27FC236}">
                <a16:creationId xmlns:a16="http://schemas.microsoft.com/office/drawing/2014/main" id="{8FE31C67-15D9-47DF-8FD4-EC93D909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problem-label-0">
            <a:extLst xmlns:a="http://schemas.openxmlformats.org/drawingml/2006/main">
              <a:ext uri="{FF2B5EF4-FFF2-40B4-BE49-F238E27FC236}">
                <a16:creationId xmlns:a16="http://schemas.microsoft.com/office/drawing/2014/main" id="{2320EF6A-3355-42D0-90B7-C6EA7A66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241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입학연도</a:t>
            </a:r>
          </a:p>
        </p:txBody>
      </p:sp>
      <p:sp>
        <p:nvSpPr>
          <p:cNvPr id="6" name="problem-detail-0">
            <a:extLst xmlns:a="http://schemas.openxmlformats.org/drawingml/2006/main">
              <a:ext uri="{FF2B5EF4-FFF2-40B4-BE49-F238E27FC236}">
                <a16:creationId xmlns:a16="http://schemas.microsoft.com/office/drawing/2014/main" id="{DE055C23-0581-44B9-A5E8-4977DA60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3622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경과조치와 교양 기준</a:t>
            </a:r>
          </a:p>
        </p:txBody>
      </p:sp>
      <p:sp>
        <p:nvSpPr>
          <p:cNvPr id="7" name="problem-rule-0">
            <a:extLst xmlns:a="http://schemas.openxmlformats.org/drawingml/2006/main">
              <a:ext uri="{FF2B5EF4-FFF2-40B4-BE49-F238E27FC236}">
                <a16:creationId xmlns:a16="http://schemas.microsoft.com/office/drawing/2014/main" id="{03E1FC54-C869-43F6-B058-01A056FB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146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blem-number-1">
            <a:extLst xmlns:a="http://schemas.openxmlformats.org/drawingml/2006/main">
              <a:ext uri="{FF2B5EF4-FFF2-40B4-BE49-F238E27FC236}">
                <a16:creationId xmlns:a16="http://schemas.microsoft.com/office/drawing/2014/main" id="{4C3EF7DA-F823-47EA-AFC4-705C1616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problem-label-1">
            <a:extLst xmlns:a="http://schemas.openxmlformats.org/drawingml/2006/main">
              <a:ext uri="{FF2B5EF4-FFF2-40B4-BE49-F238E27FC236}">
                <a16:creationId xmlns:a16="http://schemas.microsoft.com/office/drawing/2014/main" id="{A9E911CE-2982-4BB1-B221-0BA0E286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004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전공 형태</a:t>
            </a:r>
          </a:p>
        </p:txBody>
      </p:sp>
      <p:sp>
        <p:nvSpPr>
          <p:cNvPr id="10" name="problem-detail-1">
            <a:extLst xmlns:a="http://schemas.openxmlformats.org/drawingml/2006/main">
              <a:ext uri="{FF2B5EF4-FFF2-40B4-BE49-F238E27FC236}">
                <a16:creationId xmlns:a16="http://schemas.microsoft.com/office/drawing/2014/main" id="{EEBC44A4-2358-46B2-8A0F-88E9D7D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385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단일·복수·연계·융합트랙</a:t>
            </a:r>
          </a:p>
        </p:txBody>
      </p:sp>
      <p:sp>
        <p:nvSpPr>
          <p:cNvPr id="11" name="problem-rule-1">
            <a:extLst xmlns:a="http://schemas.openxmlformats.org/drawingml/2006/main">
              <a:ext uri="{FF2B5EF4-FFF2-40B4-BE49-F238E27FC236}">
                <a16:creationId xmlns:a16="http://schemas.microsoft.com/office/drawing/2014/main" id="{46B6EBB9-2DBB-4F96-BACF-B48F2A12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909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blem-number-2">
            <a:extLst xmlns:a="http://schemas.openxmlformats.org/drawingml/2006/main">
              <a:ext uri="{FF2B5EF4-FFF2-40B4-BE49-F238E27FC236}">
                <a16:creationId xmlns:a16="http://schemas.microsoft.com/office/drawing/2014/main" id="{73040E1D-CC0E-4425-871F-8F57E7A4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67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problem-label-2">
            <a:extLst xmlns:a="http://schemas.openxmlformats.org/drawingml/2006/main">
              <a:ext uri="{FF2B5EF4-FFF2-40B4-BE49-F238E27FC236}">
                <a16:creationId xmlns:a16="http://schemas.microsoft.com/office/drawing/2014/main" id="{FD0CE5D3-F8F9-4034-AAF1-00E5F21C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76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3품 인증</a:t>
            </a:r>
          </a:p>
        </p:txBody>
      </p:sp>
      <p:sp>
        <p:nvSpPr>
          <p:cNvPr id="14" name="problem-detail-2">
            <a:extLst xmlns:a="http://schemas.openxmlformats.org/drawingml/2006/main">
              <a:ext uri="{FF2B5EF4-FFF2-40B4-BE49-F238E27FC236}">
                <a16:creationId xmlns:a16="http://schemas.microsoft.com/office/drawing/2014/main" id="{ECE32C72-0BAF-48DB-9314-9702FBE1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1148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인성·글로벌·창의·AI·인턴십</a:t>
            </a:r>
          </a:p>
        </p:txBody>
      </p:sp>
      <p:sp>
        <p:nvSpPr>
          <p:cNvPr id="15" name="problem-rule-2">
            <a:extLst xmlns:a="http://schemas.openxmlformats.org/drawingml/2006/main">
              <a:ext uri="{FF2B5EF4-FFF2-40B4-BE49-F238E27FC236}">
                <a16:creationId xmlns:a16="http://schemas.microsoft.com/office/drawing/2014/main" id="{D9DB6302-A152-45AB-B159-111F6A14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672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oblem-number-3">
            <a:extLst xmlns:a="http://schemas.openxmlformats.org/drawingml/2006/main">
              <a:ext uri="{FF2B5EF4-FFF2-40B4-BE49-F238E27FC236}">
                <a16:creationId xmlns:a16="http://schemas.microsoft.com/office/drawing/2014/main" id="{76441870-E952-4F97-A2D6-435896C4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7" name="problem-label-3">
            <a:extLst xmlns:a="http://schemas.openxmlformats.org/drawingml/2006/main">
              <a:ext uri="{FF2B5EF4-FFF2-40B4-BE49-F238E27FC236}">
                <a16:creationId xmlns:a16="http://schemas.microsoft.com/office/drawing/2014/main" id="{3A6D7BE1-3716-4E02-8205-003B8188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530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졸업평가</a:t>
            </a:r>
          </a:p>
        </p:txBody>
      </p:sp>
      <p:sp>
        <p:nvSpPr>
          <p:cNvPr id="18" name="problem-detail-3">
            <a:extLst xmlns:a="http://schemas.openxmlformats.org/drawingml/2006/main">
              <a:ext uri="{FF2B5EF4-FFF2-40B4-BE49-F238E27FC236}">
                <a16:creationId xmlns:a16="http://schemas.microsoft.com/office/drawing/2014/main" id="{EF1715E5-B254-4FB8-8E94-F950A903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9911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논문·시험·포스터·글로벌 활동</a:t>
            </a:r>
          </a:p>
        </p:txBody>
      </p:sp>
      <p:sp>
        <p:nvSpPr>
          <p:cNvPr id="19" name="problem-claim">
            <a:extLst xmlns:a="http://schemas.openxmlformats.org/drawingml/2006/main">
              <a:ext uri="{FF2B5EF4-FFF2-40B4-BE49-F238E27FC236}">
                <a16:creationId xmlns:a16="http://schemas.microsoft.com/office/drawing/2014/main" id="{EDB7A35D-76DC-4445-A4F9-FF08B1A4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57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3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8554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5548"/>
                </a:solidFill>
                <a:latin typeface="Malgun Gothic"/>
                <a:ea typeface="Malgun Gothic"/>
                <a:cs typeface="Malgun Gothic"/>
              </a:rPr>
              <a:t>정보가 없는 것이 아니라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8554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85548"/>
                </a:solidFill>
                <a:latin typeface="Malgun Gothic"/>
                <a:ea typeface="Malgun Gothic"/>
                <a:cs typeface="Malgun Gothic"/>
              </a:rPr>
              <a:t>나에게 맞게 해석되지 않는 것이 문제</a:t>
            </a:r>
          </a:p>
        </p:txBody>
      </p:sp>
      <p:sp>
        <p:nvSpPr>
          <p:cNvPr id="20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57992973-6A13-4CC7-834E-A33CADC8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ource-2">
            <a:extLst xmlns:a="http://schemas.openxmlformats.org/drawingml/2006/main">
              <a:ext uri="{FF2B5EF4-FFF2-40B4-BE49-F238E27FC236}">
                <a16:creationId xmlns:a16="http://schemas.microsoft.com/office/drawing/2014/main" id="{4B4D0B94-DA69-46CC-8266-2A75FD78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출처: 성균관대학교 2026 학사제도 안내 및 학과별 졸업요건 자료</a:t>
            </a:r>
          </a:p>
        </p:txBody>
      </p:sp>
      <p:sp>
        <p:nvSpPr>
          <p:cNvPr id="22" name="page-2">
            <a:extLst xmlns:a="http://schemas.openxmlformats.org/drawingml/2006/main">
              <a:ext uri="{FF2B5EF4-FFF2-40B4-BE49-F238E27FC236}">
                <a16:creationId xmlns:a16="http://schemas.microsoft.com/office/drawing/2014/main" id="{7E98B3D4-34CC-49DD-8C72-02F99B48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564719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3">
            <a:extLst xmlns:a="http://schemas.openxmlformats.org/drawingml/2006/main">
              <a:ext uri="{FF2B5EF4-FFF2-40B4-BE49-F238E27FC236}">
                <a16:creationId xmlns:a16="http://schemas.microsoft.com/office/drawing/2014/main" id="{966739DB-9CA8-45F6-99EC-1170766D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rPr>
              <a:t>03  MVP SCOPE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30E42DA-C65A-4CD8-97AF-2B1657E3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000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네 가지 복잡한 케이스로 먼저 검증한다</a:t>
            </a:r>
          </a:p>
        </p:txBody>
      </p:sp>
      <p:sp>
        <p:nvSpPr>
          <p:cNvPr id="3" name="persona-lead">
            <a:extLst xmlns:a="http://schemas.openxmlformats.org/drawingml/2006/main">
              <a:ext uri="{FF2B5EF4-FFF2-40B4-BE49-F238E27FC236}">
                <a16:creationId xmlns:a16="http://schemas.microsoft.com/office/drawing/2014/main" id="{82DDAFFC-D2DE-45CA-86F7-E27351DE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전체 학과를 얕게 다루기보다, 실제 팀의 전공 조합을 정확하게 구현했습니다.</a:t>
            </a:r>
          </a:p>
        </p:txBody>
      </p:sp>
      <p:sp>
        <p:nvSpPr>
          <p:cNvPr id="4" name="persona-no-0">
            <a:extLst xmlns:a="http://schemas.openxmlformats.org/drawingml/2006/main">
              <a:ext uri="{FF2B5EF4-FFF2-40B4-BE49-F238E27FC236}">
                <a16:creationId xmlns:a16="http://schemas.microsoft.com/office/drawing/2014/main" id="{7DA170AC-04EB-4425-BC53-168BB909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persona-major-0">
            <a:extLst xmlns:a="http://schemas.openxmlformats.org/drawingml/2006/main">
              <a:ext uri="{FF2B5EF4-FFF2-40B4-BE49-F238E27FC236}">
                <a16:creationId xmlns:a16="http://schemas.microsoft.com/office/drawing/2014/main" id="{847F3D74-B6CF-4990-89DF-59F09716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28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화학공학부</a:t>
            </a:r>
          </a:p>
        </p:txBody>
      </p:sp>
      <p:sp>
        <p:nvSpPr>
          <p:cNvPr id="6" name="persona-detail-0">
            <a:extLst xmlns:a="http://schemas.openxmlformats.org/drawingml/2006/main">
              <a:ext uri="{FF2B5EF4-FFF2-40B4-BE49-F238E27FC236}">
                <a16:creationId xmlns:a16="http://schemas.microsoft.com/office/drawing/2014/main" id="{B3F3BFFA-9AE8-4B34-8153-DFC8BCFF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764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반도체소재부품장비패키징 융합트랙 · 21학점</a:t>
            </a:r>
          </a:p>
        </p:txBody>
      </p:sp>
      <p:sp>
        <p:nvSpPr>
          <p:cNvPr id="7" name="persona-line-0">
            <a:extLst xmlns:a="http://schemas.openxmlformats.org/drawingml/2006/main">
              <a:ext uri="{FF2B5EF4-FFF2-40B4-BE49-F238E27FC236}">
                <a16:creationId xmlns:a16="http://schemas.microsoft.com/office/drawing/2014/main" id="{780F6B7F-2E44-4D2E-A4E6-E2B0924F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28925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ersona-no-1">
            <a:extLst xmlns:a="http://schemas.openxmlformats.org/drawingml/2006/main">
              <a:ext uri="{FF2B5EF4-FFF2-40B4-BE49-F238E27FC236}">
                <a16:creationId xmlns:a16="http://schemas.microsoft.com/office/drawing/2014/main" id="{26F828F7-473B-4E97-869A-2608D41F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persona-major-1">
            <a:extLst xmlns:a="http://schemas.openxmlformats.org/drawingml/2006/main">
              <a:ext uri="{FF2B5EF4-FFF2-40B4-BE49-F238E27FC236}">
                <a16:creationId xmlns:a16="http://schemas.microsoft.com/office/drawing/2014/main" id="{D6700CA2-E493-4D1C-8949-5A378EA1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62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문헌정보학과</a:t>
            </a:r>
          </a:p>
        </p:txBody>
      </p:sp>
      <p:sp>
        <p:nvSpPr>
          <p:cNvPr id="10" name="persona-detail-1">
            <a:extLst xmlns:a="http://schemas.openxmlformats.org/drawingml/2006/main">
              <a:ext uri="{FF2B5EF4-FFF2-40B4-BE49-F238E27FC236}">
                <a16:creationId xmlns:a16="http://schemas.microsoft.com/office/drawing/2014/main" id="{5A6076FE-0363-4AD3-B0A0-3FE456C0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099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경제학과 복수전공 · 두 전공 졸업평가</a:t>
            </a:r>
          </a:p>
        </p:txBody>
      </p:sp>
      <p:sp>
        <p:nvSpPr>
          <p:cNvPr id="11" name="persona-line-1">
            <a:extLst xmlns:a="http://schemas.openxmlformats.org/drawingml/2006/main">
              <a:ext uri="{FF2B5EF4-FFF2-40B4-BE49-F238E27FC236}">
                <a16:creationId xmlns:a16="http://schemas.microsoft.com/office/drawing/2014/main" id="{0FC81DE2-052C-48FB-AC62-D785F20E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62375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ersona-no-2">
            <a:extLst xmlns:a="http://schemas.openxmlformats.org/drawingml/2006/main">
              <a:ext uri="{FF2B5EF4-FFF2-40B4-BE49-F238E27FC236}">
                <a16:creationId xmlns:a16="http://schemas.microsoft.com/office/drawing/2014/main" id="{A63897A5-9197-4F5C-9561-D945AFC7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persona-major-2">
            <a:extLst xmlns:a="http://schemas.openxmlformats.org/drawingml/2006/main">
              <a:ext uri="{FF2B5EF4-FFF2-40B4-BE49-F238E27FC236}">
                <a16:creationId xmlns:a16="http://schemas.microsoft.com/office/drawing/2014/main" id="{FB726F5A-37C7-449C-B1BE-BB8D23A1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95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글로벌경영학과</a:t>
            </a:r>
          </a:p>
        </p:txBody>
      </p:sp>
      <p:sp>
        <p:nvSpPr>
          <p:cNvPr id="14" name="persona-detail-2">
            <a:extLst xmlns:a="http://schemas.openxmlformats.org/drawingml/2006/main">
              <a:ext uri="{FF2B5EF4-FFF2-40B4-BE49-F238E27FC236}">
                <a16:creationId xmlns:a16="http://schemas.microsoft.com/office/drawing/2014/main" id="{98BC4647-5D92-4F0E-AFB7-D58E34C6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433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1순위 타깃 · I-Core와 글로벌 활동</a:t>
            </a:r>
          </a:p>
        </p:txBody>
      </p:sp>
      <p:sp>
        <p:nvSpPr>
          <p:cNvPr id="15" name="persona-line-2">
            <a:extLst xmlns:a="http://schemas.openxmlformats.org/drawingml/2006/main">
              <a:ext uri="{FF2B5EF4-FFF2-40B4-BE49-F238E27FC236}">
                <a16:creationId xmlns:a16="http://schemas.microsoft.com/office/drawing/2014/main" id="{6F7C1D74-AAC0-43BD-A610-25C617CE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95825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ersona-no-3">
            <a:extLst xmlns:a="http://schemas.openxmlformats.org/drawingml/2006/main">
              <a:ext uri="{FF2B5EF4-FFF2-40B4-BE49-F238E27FC236}">
                <a16:creationId xmlns:a16="http://schemas.microsoft.com/office/drawing/2014/main" id="{C8D92D58-CB61-4385-BD8F-E7C61387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7" name="persona-major-3">
            <a:extLst xmlns:a="http://schemas.openxmlformats.org/drawingml/2006/main">
              <a:ext uri="{FF2B5EF4-FFF2-40B4-BE49-F238E27FC236}">
                <a16:creationId xmlns:a16="http://schemas.microsoft.com/office/drawing/2014/main" id="{FA98C351-45EC-470A-9A78-A966783B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292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소프트웨어학과</a:t>
            </a:r>
          </a:p>
        </p:txBody>
      </p:sp>
      <p:sp>
        <p:nvSpPr>
          <p:cNvPr id="18" name="persona-detail-3">
            <a:extLst xmlns:a="http://schemas.openxmlformats.org/drawingml/2006/main">
              <a:ext uri="{FF2B5EF4-FFF2-40B4-BE49-F238E27FC236}">
                <a16:creationId xmlns:a16="http://schemas.microsoft.com/office/drawing/2014/main" id="{6043C3C2-E5DE-417D-8CBA-C194CBD7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768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지정 DS 2과목 예외 · 6~7학기 조기졸업</a:t>
            </a:r>
          </a:p>
        </p:txBody>
      </p:sp>
      <p:sp>
        <p:nvSpPr>
          <p:cNvPr id="19" name="persona-line-3">
            <a:extLst xmlns:a="http://schemas.openxmlformats.org/drawingml/2006/main">
              <a:ext uri="{FF2B5EF4-FFF2-40B4-BE49-F238E27FC236}">
                <a16:creationId xmlns:a16="http://schemas.microsoft.com/office/drawing/2014/main" id="{8A63D0A6-B299-4702-ADB8-64EDBF07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629275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B62795F0-DE40-425A-8CD2-204E7BCB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ource-3">
            <a:extLst xmlns:a="http://schemas.openxmlformats.org/drawingml/2006/main">
              <a:ext uri="{FF2B5EF4-FFF2-40B4-BE49-F238E27FC236}">
                <a16:creationId xmlns:a16="http://schemas.microsoft.com/office/drawing/2014/main" id="{CB9D3E68-4811-48C3-B6CD-362660E8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MVP 기준: 2020~2024학번 샘플 데이터 · 최종 판정은 GLS 및 학과사무실 확인</a:t>
            </a:r>
          </a:p>
        </p:txBody>
      </p:sp>
      <p:sp>
        <p:nvSpPr>
          <p:cNvPr id="22" name="page-3">
            <a:extLst xmlns:a="http://schemas.openxmlformats.org/drawingml/2006/main">
              <a:ext uri="{FF2B5EF4-FFF2-40B4-BE49-F238E27FC236}">
                <a16:creationId xmlns:a16="http://schemas.microsoft.com/office/drawing/2014/main" id="{08320983-1A9E-4CC2-AAF8-D3A52ACE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348990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4">
            <a:extLst xmlns:a="http://schemas.openxmlformats.org/drawingml/2006/main">
              <a:ext uri="{FF2B5EF4-FFF2-40B4-BE49-F238E27FC236}">
                <a16:creationId xmlns:a16="http://schemas.microsoft.com/office/drawing/2014/main" id="{867B5CBF-1F77-400C-85F4-8A86F272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rPr>
              <a:t>04  DOCUMENT AI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2E56284-0B7A-48F3-B673-BDEAAAA9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000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AI는 문서를 읽고, 사람은 기준을 승인한다</a:t>
            </a:r>
          </a:p>
        </p:txBody>
      </p:sp>
      <p:sp>
        <p:nvSpPr>
          <p:cNvPr id="3" name="workflow-lead">
            <a:extLst xmlns:a="http://schemas.openxmlformats.org/drawingml/2006/main">
              <a:ext uri="{FF2B5EF4-FFF2-40B4-BE49-F238E27FC236}">
                <a16:creationId xmlns:a16="http://schemas.microsoft.com/office/drawing/2014/main" id="{BB2DCB99-3094-452A-AD1A-F21E8C08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정확도가 중요한 학사 규정은 자동화와 검수를 분리합니다.</a:t>
            </a:r>
          </a:p>
        </p:txBody>
      </p:sp>
      <p:sp>
        <p:nvSpPr>
          <p:cNvPr id="4" name="arrow-0">
            <a:extLst xmlns:a="http://schemas.openxmlformats.org/drawingml/2006/main">
              <a:ext uri="{FF2B5EF4-FFF2-40B4-BE49-F238E27FC236}">
                <a16:creationId xmlns:a16="http://schemas.microsoft.com/office/drawing/2014/main" id="{02697535-B237-4C9E-AC36-6B2D6534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43250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5" name="workflow-box-0">
            <a:extLst xmlns:a="http://schemas.openxmlformats.org/drawingml/2006/main">
              <a:ext uri="{FF2B5EF4-FFF2-40B4-BE49-F238E27FC236}">
                <a16:creationId xmlns:a16="http://schemas.microsoft.com/office/drawing/2014/main" id="{ACB83062-BFD0-4951-8A7C-F311F8CC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4F7F6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6" name="workflow-no-0">
            <a:extLst xmlns:a="http://schemas.openxmlformats.org/drawingml/2006/main">
              <a:ext uri="{FF2B5EF4-FFF2-40B4-BE49-F238E27FC236}">
                <a16:creationId xmlns:a16="http://schemas.microsoft.com/office/drawing/2014/main" id="{3939413F-39FD-4F2E-9E0E-C3879AEB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workflow-title-0">
            <a:extLst xmlns:a="http://schemas.openxmlformats.org/drawingml/2006/main">
              <a:ext uri="{FF2B5EF4-FFF2-40B4-BE49-F238E27FC236}">
                <a16:creationId xmlns:a16="http://schemas.microsoft.com/office/drawing/2014/main" id="{FA4D8949-2B3C-4C1C-8D2D-0266497F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문서 입력</a:t>
            </a:r>
          </a:p>
        </p:txBody>
      </p:sp>
      <p:sp>
        <p:nvSpPr>
          <p:cNvPr id="8" name="workflow-detail-0">
            <a:extLst xmlns:a="http://schemas.openxmlformats.org/drawingml/2006/main">
              <a:ext uri="{FF2B5EF4-FFF2-40B4-BE49-F238E27FC236}">
                <a16:creationId xmlns:a16="http://schemas.microsoft.com/office/drawing/2014/main" id="{CE97908F-6786-4AB9-B149-53BDB79E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학사 PDF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성적표 이미지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E7FC0C05-84A3-42B0-BF48-5255E774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43250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workflow-box-1">
            <a:extLst xmlns:a="http://schemas.openxmlformats.org/drawingml/2006/main">
              <a:ext uri="{FF2B5EF4-FFF2-40B4-BE49-F238E27FC236}">
                <a16:creationId xmlns:a16="http://schemas.microsoft.com/office/drawing/2014/main" id="{DC031141-7A7E-486E-85B4-6B330162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765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123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kflow-no-1">
            <a:extLst xmlns:a="http://schemas.openxmlformats.org/drawingml/2006/main">
              <a:ext uri="{FF2B5EF4-FFF2-40B4-BE49-F238E27FC236}">
                <a16:creationId xmlns:a16="http://schemas.microsoft.com/office/drawing/2014/main" id="{CE341EE3-F344-44DF-BE05-69C6EC4E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051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6EAE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6EAE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workflow-title-1">
            <a:extLst xmlns:a="http://schemas.openxmlformats.org/drawingml/2006/main">
              <a:ext uri="{FF2B5EF4-FFF2-40B4-BE49-F238E27FC236}">
                <a16:creationId xmlns:a16="http://schemas.microsoft.com/office/drawing/2014/main" id="{BB842452-4A25-45C0-BBCD-8AF8DAC6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43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Document Parse</a:t>
            </a:r>
          </a:p>
        </p:txBody>
      </p:sp>
      <p:sp>
        <p:nvSpPr>
          <p:cNvPr id="13" name="workflow-detail-1">
            <a:extLst xmlns:a="http://schemas.openxmlformats.org/drawingml/2006/main">
              <a:ext uri="{FF2B5EF4-FFF2-40B4-BE49-F238E27FC236}">
                <a16:creationId xmlns:a16="http://schemas.microsoft.com/office/drawing/2014/main" id="{F612880C-D633-46A4-AAE8-0397C19E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528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D6EAE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D6EAE3"/>
                </a:solidFill>
                <a:latin typeface="Malgun Gothic"/>
                <a:ea typeface="Malgun Gothic"/>
                <a:cs typeface="Malgun Gothic"/>
              </a:rPr>
              <a:t>표·문장·각주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D6EAE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D6EAE3"/>
                </a:solidFill>
                <a:latin typeface="Malgun Gothic"/>
                <a:ea typeface="Malgun Gothic"/>
                <a:cs typeface="Malgun Gothic"/>
              </a:rPr>
              <a:t>구조 복원</a:t>
            </a:r>
          </a:p>
        </p:txBody>
      </p:sp>
      <p:sp>
        <p:nvSpPr>
          <p:cNvPr id="14" name="arrow-2">
            <a:extLst xmlns:a="http://schemas.openxmlformats.org/drawingml/2006/main">
              <a:ext uri="{FF2B5EF4-FFF2-40B4-BE49-F238E27FC236}">
                <a16:creationId xmlns:a16="http://schemas.microsoft.com/office/drawing/2014/main" id="{F35C9353-8D4C-46AA-8843-59C419D6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43250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5" name="workflow-box-2">
            <a:extLst xmlns:a="http://schemas.openxmlformats.org/drawingml/2006/main">
              <a:ext uri="{FF2B5EF4-FFF2-40B4-BE49-F238E27FC236}">
                <a16:creationId xmlns:a16="http://schemas.microsoft.com/office/drawing/2014/main" id="{8B22B4BB-6358-42F7-8EFA-CCFF7A0F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4F7F6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16" name="workflow-no-2">
            <a:extLst xmlns:a="http://schemas.openxmlformats.org/drawingml/2006/main">
              <a:ext uri="{FF2B5EF4-FFF2-40B4-BE49-F238E27FC236}">
                <a16:creationId xmlns:a16="http://schemas.microsoft.com/office/drawing/2014/main" id="{5A61CF51-5BE8-484F-A131-3CA4B7E0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051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workflow-title-2">
            <a:extLst xmlns:a="http://schemas.openxmlformats.org/drawingml/2006/main">
              <a:ext uri="{FF2B5EF4-FFF2-40B4-BE49-F238E27FC236}">
                <a16:creationId xmlns:a16="http://schemas.microsoft.com/office/drawing/2014/main" id="{CD7B698D-0D0F-4DE0-AAEE-AB7679A6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43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규칙 검수</a:t>
            </a:r>
          </a:p>
        </p:txBody>
      </p:sp>
      <p:sp>
        <p:nvSpPr>
          <p:cNvPr id="18" name="workflow-detail-2">
            <a:extLst xmlns:a="http://schemas.openxmlformats.org/drawingml/2006/main">
              <a:ext uri="{FF2B5EF4-FFF2-40B4-BE49-F238E27FC236}">
                <a16:creationId xmlns:a16="http://schemas.microsoft.com/office/drawing/2014/main" id="{9046689B-5B58-4EBE-8B6B-700B842E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입학연도·예외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원문 대조</a:t>
            </a:r>
          </a:p>
        </p:txBody>
      </p:sp>
      <p:sp>
        <p:nvSpPr>
          <p:cNvPr id="19" name="workflow-box-3">
            <a:extLst xmlns:a="http://schemas.openxmlformats.org/drawingml/2006/main">
              <a:ext uri="{FF2B5EF4-FFF2-40B4-BE49-F238E27FC236}">
                <a16:creationId xmlns:a16="http://schemas.microsoft.com/office/drawing/2014/main" id="{576506D9-2B6B-415D-ADEF-D976B7EF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765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4F7F6"/>
          </a:solidFill>
          <a:ln xmlns:a="http://schemas.openxmlformats.org/drawingml/2006/main" w="9525">
            <a:solidFill>
              <a:srgbClr val="D7E1DE"/>
            </a:solidFill>
            <a:prstDash val="solid"/>
          </a:ln>
        </p:spPr>
      </p:sp>
      <p:sp>
        <p:nvSpPr>
          <p:cNvPr id="20" name="workflow-no-3">
            <a:extLst xmlns:a="http://schemas.openxmlformats.org/drawingml/2006/main">
              <a:ext uri="{FF2B5EF4-FFF2-40B4-BE49-F238E27FC236}">
                <a16:creationId xmlns:a16="http://schemas.microsoft.com/office/drawing/2014/main" id="{9D97C030-9C0E-4CEC-80F6-17535876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051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workflow-title-3">
            <a:extLst xmlns:a="http://schemas.openxmlformats.org/drawingml/2006/main">
              <a:ext uri="{FF2B5EF4-FFF2-40B4-BE49-F238E27FC236}">
                <a16:creationId xmlns:a16="http://schemas.microsoft.com/office/drawing/2014/main" id="{369FB8FF-1300-4285-9104-5E73A22D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43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개인 진단</a:t>
            </a:r>
          </a:p>
        </p:txBody>
      </p:sp>
      <p:sp>
        <p:nvSpPr>
          <p:cNvPr id="22" name="workflow-detail-3">
            <a:extLst xmlns:a="http://schemas.openxmlformats.org/drawingml/2006/main">
              <a:ext uri="{FF2B5EF4-FFF2-40B4-BE49-F238E27FC236}">
                <a16:creationId xmlns:a16="http://schemas.microsoft.com/office/drawing/2014/main" id="{67635FE5-CE93-4181-BCFB-A5C4EBDB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528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부족 요건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다음 행동</a:t>
            </a:r>
          </a:p>
        </p:txBody>
      </p:sp>
      <p:sp>
        <p:nvSpPr>
          <p:cNvPr id="23" name="workflow-note">
            <a:extLst xmlns:a="http://schemas.openxmlformats.org/drawingml/2006/main">
              <a:ext uri="{FF2B5EF4-FFF2-40B4-BE49-F238E27FC236}">
                <a16:creationId xmlns:a16="http://schemas.microsoft.com/office/drawing/2014/main" id="{2FD18F3B-BAED-451B-8DF1-E7E310B4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554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85548"/>
                </a:solidFill>
                <a:latin typeface="Malgun Gothic"/>
                <a:ea typeface="Malgun Gothic"/>
                <a:cs typeface="Malgun Gothic"/>
              </a:rPr>
              <a:t>Solar Q&amp;A는 승인된 학생 데이터만 근거로 답변하고, 불확실한 조건은 ‘확인 필요’로 남깁니다.</a:t>
            </a:r>
          </a:p>
        </p:txBody>
      </p:sp>
      <p:sp>
        <p:nvSpPr>
          <p:cNvPr id="24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FD2A14D5-298C-4EF4-9FA5-273BACDB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ource-4">
            <a:extLst xmlns:a="http://schemas.openxmlformats.org/drawingml/2006/main">
              <a:ext uri="{FF2B5EF4-FFF2-40B4-BE49-F238E27FC236}">
                <a16:creationId xmlns:a16="http://schemas.microsoft.com/office/drawing/2014/main" id="{85615C76-AE5C-460A-87F4-9C686123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출처: Upstage Document Parse 및 Solar Chat 공식 예제 (2026.07 확인)</a:t>
            </a:r>
          </a:p>
        </p:txBody>
      </p:sp>
      <p:sp>
        <p:nvSpPr>
          <p:cNvPr id="26" name="page-4">
            <a:extLst xmlns:a="http://schemas.openxmlformats.org/drawingml/2006/main">
              <a:ext uri="{FF2B5EF4-FFF2-40B4-BE49-F238E27FC236}">
                <a16:creationId xmlns:a16="http://schemas.microsoft.com/office/drawing/2014/main" id="{46A649F1-2E1C-40CF-8B51-53307856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62278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5">
            <a:extLst xmlns:a="http://schemas.openxmlformats.org/drawingml/2006/main">
              <a:ext uri="{FF2B5EF4-FFF2-40B4-BE49-F238E27FC236}">
                <a16:creationId xmlns:a16="http://schemas.microsoft.com/office/drawing/2014/main" id="{4617D65B-7828-4019-A7F8-060221B8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rPr>
              <a:t>05  PRODUCT DEMO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21F9ECC-6F5A-416D-A392-771A97F7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000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한 화면에서 ‘얼마나’와 ‘무엇을’을 함께 본다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41b2387784537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19250"/>
            <a:ext cx="7143750" cy="4467225"/>
          </a:xfrm>
          <a:prstGeom xmlns:a="http://schemas.openxmlformats.org/drawingml/2006/main" prst="roundRect">
            <a:avLst>
              <a:gd name="adj" fmla="val 2559"/>
            </a:avLst>
          </a:prstGeom>
        </p:spPr>
      </p:pic>
      <p:sp>
        <p:nvSpPr>
          <p:cNvPr id="4" name="dot-208">
            <a:extLst xmlns:a="http://schemas.openxmlformats.org/drawingml/2006/main">
              <a:ext uri="{FF2B5EF4-FFF2-40B4-BE49-F238E27FC236}">
                <a16:creationId xmlns:a16="http://schemas.microsoft.com/office/drawing/2014/main" id="{DCF64531-BE9D-4882-A4EF-659C4D0F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38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8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llet-title-208">
            <a:extLst xmlns:a="http://schemas.openxmlformats.org/drawingml/2006/main">
              <a:ext uri="{FF2B5EF4-FFF2-40B4-BE49-F238E27FC236}">
                <a16:creationId xmlns:a16="http://schemas.microsoft.com/office/drawing/2014/main" id="{3A18984C-5143-4B80-A968-FD9C6946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812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진행률 81%</a:t>
            </a:r>
          </a:p>
        </p:txBody>
      </p:sp>
      <p:sp>
        <p:nvSpPr>
          <p:cNvPr id="6" name="bullet-detail-208">
            <a:extLst xmlns:a="http://schemas.openxmlformats.org/drawingml/2006/main">
              <a:ext uri="{FF2B5EF4-FFF2-40B4-BE49-F238E27FC236}">
                <a16:creationId xmlns:a16="http://schemas.microsoft.com/office/drawing/2014/main" id="{90C2EB3B-006A-40D8-9519-89EEDA6C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11개 진단 항목을 하나의 상태로 요약</a:t>
            </a:r>
          </a:p>
        </p:txBody>
      </p:sp>
      <p:sp>
        <p:nvSpPr>
          <p:cNvPr id="7" name="dot-314">
            <a:extLst xmlns:a="http://schemas.openxmlformats.org/drawingml/2006/main">
              <a:ext uri="{FF2B5EF4-FFF2-40B4-BE49-F238E27FC236}">
                <a16:creationId xmlns:a16="http://schemas.microsoft.com/office/drawing/2014/main" id="{670D7834-2F20-4992-A7F5-F3D507B6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8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title-314">
            <a:extLst xmlns:a="http://schemas.openxmlformats.org/drawingml/2006/main">
              <a:ext uri="{FF2B5EF4-FFF2-40B4-BE49-F238E27FC236}">
                <a16:creationId xmlns:a16="http://schemas.microsoft.com/office/drawing/2014/main" id="{5A7B200C-1B60-47CF-9A18-728F6E0A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부족분을 숫자로</a:t>
            </a:r>
          </a:p>
        </p:txBody>
      </p:sp>
      <p:sp>
        <p:nvSpPr>
          <p:cNvPr id="9" name="bullet-detail-314">
            <a:extLst xmlns:a="http://schemas.openxmlformats.org/drawingml/2006/main">
              <a:ext uri="{FF2B5EF4-FFF2-40B4-BE49-F238E27FC236}">
                <a16:creationId xmlns:a16="http://schemas.microsoft.com/office/drawing/2014/main" id="{7220C227-D56A-43D7-BC44-19281A71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956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국제어·전공·3품의 남은 수치를 즉시 확인</a:t>
            </a:r>
          </a:p>
        </p:txBody>
      </p:sp>
      <p:sp>
        <p:nvSpPr>
          <p:cNvPr id="10" name="dot-420">
            <a:extLst xmlns:a="http://schemas.openxmlformats.org/drawingml/2006/main">
              <a:ext uri="{FF2B5EF4-FFF2-40B4-BE49-F238E27FC236}">
                <a16:creationId xmlns:a16="http://schemas.microsoft.com/office/drawing/2014/main" id="{FD9404BF-3A99-49F2-8FE9-02416065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57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8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title-420">
            <a:extLst xmlns:a="http://schemas.openxmlformats.org/drawingml/2006/main">
              <a:ext uri="{FF2B5EF4-FFF2-40B4-BE49-F238E27FC236}">
                <a16:creationId xmlns:a16="http://schemas.microsoft.com/office/drawing/2014/main" id="{C279B217-6C44-4989-85AD-0F88A9C9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00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다음 행동까지</a:t>
            </a:r>
          </a:p>
        </p:txBody>
      </p:sp>
      <p:sp>
        <p:nvSpPr>
          <p:cNvPr id="12" name="bullet-detail-420">
            <a:extLst xmlns:a="http://schemas.openxmlformats.org/drawingml/2006/main">
              <a:ext uri="{FF2B5EF4-FFF2-40B4-BE49-F238E27FC236}">
                <a16:creationId xmlns:a16="http://schemas.microsoft.com/office/drawing/2014/main" id="{BE1EDB0F-C1AE-43D6-A133-08A7E3BD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053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미완료 요건을 우선순위로 정렬해 실행으로 연결</a:t>
            </a:r>
          </a:p>
        </p:txBody>
      </p:sp>
      <p:sp>
        <p:nvSpPr>
          <p:cNvPr id="13" name="dashboard-claim">
            <a:extLst xmlns:a="http://schemas.openxmlformats.org/drawingml/2006/main">
              <a:ext uri="{FF2B5EF4-FFF2-40B4-BE49-F238E27FC236}">
                <a16:creationId xmlns:a16="http://schemas.microsoft.com/office/drawing/2014/main" id="{7FEAB37C-60FC-42E1-8052-D1951D25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43500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418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1">
                <a:solidFill>
                  <a:srgbClr val="18554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5548"/>
                </a:solidFill>
                <a:latin typeface="Malgun Gothic"/>
                <a:ea typeface="Malgun Gothic"/>
                <a:cs typeface="Malgun Gothic"/>
              </a:rPr>
              <a:t>“나 졸업 가능해?”에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725" b="1">
                <a:solidFill>
                  <a:srgbClr val="18554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85548"/>
                </a:solidFill>
                <a:latin typeface="Malgun Gothic"/>
                <a:ea typeface="Malgun Gothic"/>
                <a:cs typeface="Malgun Gothic"/>
              </a:rPr>
              <a:t>검색 결과가 아니라 체크리스트로 답합니다.</a:t>
            </a:r>
          </a:p>
        </p:txBody>
      </p:sp>
      <p:sp>
        <p:nvSpPr>
          <p:cNvPr id="14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CEF51D6A-C6F3-4B84-BF4A-7261DF00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ource-5">
            <a:extLst xmlns:a="http://schemas.openxmlformats.org/drawingml/2006/main">
              <a:ext uri="{FF2B5EF4-FFF2-40B4-BE49-F238E27FC236}">
                <a16:creationId xmlns:a16="http://schemas.microsoft.com/office/drawing/2014/main" id="{6FE2E06F-D1AD-4122-911A-35691636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GradQuest 글로벌경영학과 데모 화면</a:t>
            </a:r>
          </a:p>
        </p:txBody>
      </p:sp>
      <p:sp>
        <p:nvSpPr>
          <p:cNvPr id="16" name="page-5">
            <a:extLst xmlns:a="http://schemas.openxmlformats.org/drawingml/2006/main">
              <a:ext uri="{FF2B5EF4-FFF2-40B4-BE49-F238E27FC236}">
                <a16:creationId xmlns:a16="http://schemas.microsoft.com/office/drawing/2014/main" id="{1BAC3EFF-CA8E-4D70-A344-CB636498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988364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6">
            <a:extLst xmlns:a="http://schemas.openxmlformats.org/drawingml/2006/main">
              <a:ext uri="{FF2B5EF4-FFF2-40B4-BE49-F238E27FC236}">
                <a16:creationId xmlns:a16="http://schemas.microsoft.com/office/drawing/2014/main" id="{E51BE840-DEFF-4896-B3A3-337F513D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rPr>
              <a:t>06  TRUST BY DESIGN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6384054D-4566-4304-9755-256B2614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000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업로드 뒤 확인 단계가 신뢰를 만든다</a:t>
            </a:r>
          </a:p>
        </p:txBody>
      </p:sp>
      <p:sp>
        <p:nvSpPr>
          <p:cNvPr id="3" name="review-lead">
            <a:extLst xmlns:a="http://schemas.openxmlformats.org/drawingml/2006/main">
              <a:ext uri="{FF2B5EF4-FFF2-40B4-BE49-F238E27FC236}">
                <a16:creationId xmlns:a16="http://schemas.microsoft.com/office/drawing/2014/main" id="{8048F914-1D1E-4024-889F-186E33A7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AI가 읽은 값은 곧바로 판정에 쓰지 않습니다.</a:t>
            </a:r>
          </a:p>
        </p:txBody>
      </p:sp>
      <p:sp>
        <p:nvSpPr>
          <p:cNvPr id="4" name="review-number-box-0">
            <a:extLst xmlns:a="http://schemas.openxmlformats.org/drawingml/2006/main">
              <a:ext uri="{FF2B5EF4-FFF2-40B4-BE49-F238E27FC236}">
                <a16:creationId xmlns:a16="http://schemas.microsoft.com/office/drawing/2014/main" id="{1C263D2B-BD81-47AC-A626-361B8080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855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view-number-0">
            <a:extLst xmlns:a="http://schemas.openxmlformats.org/drawingml/2006/main">
              <a:ext uri="{FF2B5EF4-FFF2-40B4-BE49-F238E27FC236}">
                <a16:creationId xmlns:a16="http://schemas.microsoft.com/office/drawing/2014/main" id="{A6705B5B-583A-4996-9F87-D89E2E75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review-title-0">
            <a:extLst xmlns:a="http://schemas.openxmlformats.org/drawingml/2006/main">
              <a:ext uri="{FF2B5EF4-FFF2-40B4-BE49-F238E27FC236}">
                <a16:creationId xmlns:a16="http://schemas.microsoft.com/office/drawing/2014/main" id="{51CAB82F-DFD7-4279-92A7-256133CA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33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성적표 업로드</a:t>
            </a:r>
          </a:p>
        </p:txBody>
      </p:sp>
      <p:sp>
        <p:nvSpPr>
          <p:cNvPr id="7" name="review-detail-0">
            <a:extLst xmlns:a="http://schemas.openxmlformats.org/drawingml/2006/main">
              <a:ext uri="{FF2B5EF4-FFF2-40B4-BE49-F238E27FC236}">
                <a16:creationId xmlns:a16="http://schemas.microsoft.com/office/drawing/2014/main" id="{FA26CD2E-8CB4-4212-BAB2-A7EA8A83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95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PDF·PNG·JPG</a:t>
            </a:r>
          </a:p>
        </p:txBody>
      </p:sp>
      <p:sp>
        <p:nvSpPr>
          <p:cNvPr id="8" name="review-number-box-1">
            <a:extLst xmlns:a="http://schemas.openxmlformats.org/drawingml/2006/main">
              <a:ext uri="{FF2B5EF4-FFF2-40B4-BE49-F238E27FC236}">
                <a16:creationId xmlns:a16="http://schemas.microsoft.com/office/drawing/2014/main" id="{184B0BD5-226A-42FB-8E48-86BEC65E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0425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B478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view-number-1">
            <a:extLst xmlns:a="http://schemas.openxmlformats.org/drawingml/2006/main">
              <a:ext uri="{FF2B5EF4-FFF2-40B4-BE49-F238E27FC236}">
                <a16:creationId xmlns:a16="http://schemas.microsoft.com/office/drawing/2014/main" id="{C6B002C0-983F-4578-9C23-F809B314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04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" name="review-title-1">
            <a:extLst xmlns:a="http://schemas.openxmlformats.org/drawingml/2006/main">
              <a:ext uri="{FF2B5EF4-FFF2-40B4-BE49-F238E27FC236}">
                <a16:creationId xmlns:a16="http://schemas.microsoft.com/office/drawing/2014/main" id="{F1AA0E9B-497A-4C1B-ADFC-8E7ADFF7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004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추출값 검토</a:t>
            </a:r>
          </a:p>
        </p:txBody>
      </p:sp>
      <p:sp>
        <p:nvSpPr>
          <p:cNvPr id="11" name="review-detail-1">
            <a:extLst xmlns:a="http://schemas.openxmlformats.org/drawingml/2006/main">
              <a:ext uri="{FF2B5EF4-FFF2-40B4-BE49-F238E27FC236}">
                <a16:creationId xmlns:a16="http://schemas.microsoft.com/office/drawing/2014/main" id="{C7A05652-44BD-49FE-97A1-A9186EB0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62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원문과 수치 대조</a:t>
            </a:r>
          </a:p>
        </p:txBody>
      </p:sp>
      <p:sp>
        <p:nvSpPr>
          <p:cNvPr id="12" name="review-number-box-2">
            <a:extLst xmlns:a="http://schemas.openxmlformats.org/drawingml/2006/main">
              <a:ext uri="{FF2B5EF4-FFF2-40B4-BE49-F238E27FC236}">
                <a16:creationId xmlns:a16="http://schemas.microsoft.com/office/drawing/2014/main" id="{F3BD0C46-268C-4F18-AF5E-EA0CE7F8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7225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855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view-number-2">
            <a:extLst xmlns:a="http://schemas.openxmlformats.org/drawingml/2006/main">
              <a:ext uri="{FF2B5EF4-FFF2-40B4-BE49-F238E27FC236}">
                <a16:creationId xmlns:a16="http://schemas.microsoft.com/office/drawing/2014/main" id="{12EA9100-8925-4D24-A71C-31F3F504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672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4" name="review-title-2">
            <a:extLst xmlns:a="http://schemas.openxmlformats.org/drawingml/2006/main">
              <a:ext uri="{FF2B5EF4-FFF2-40B4-BE49-F238E27FC236}">
                <a16:creationId xmlns:a16="http://schemas.microsoft.com/office/drawing/2014/main" id="{C5ACEF01-B043-4D42-A0B5-988097EC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672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학생 승인</a:t>
            </a:r>
          </a:p>
        </p:txBody>
      </p:sp>
      <p:sp>
        <p:nvSpPr>
          <p:cNvPr id="15" name="review-detail-2">
            <a:extLst xmlns:a="http://schemas.openxmlformats.org/drawingml/2006/main">
              <a:ext uri="{FF2B5EF4-FFF2-40B4-BE49-F238E27FC236}">
                <a16:creationId xmlns:a16="http://schemas.microsoft.com/office/drawing/2014/main" id="{ADD3C9F0-321C-44ED-93F4-F423662E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291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수정 후 진단 반영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bfe6a10a844ef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29150" y="1752600"/>
            <a:ext cx="6896100" cy="4305300"/>
          </a:xfrm>
          <a:prstGeom xmlns:a="http://schemas.openxmlformats.org/drawingml/2006/main" prst="roundRect">
            <a:avLst>
              <a:gd name="adj" fmla="val 2655"/>
            </a:avLst>
          </a:prstGeom>
        </p:spPr>
      </p:pic>
      <p:sp>
        <p:nvSpPr>
          <p:cNvPr id="17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30C60508-668F-4347-862C-A6E22746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ource-6">
            <a:extLst xmlns:a="http://schemas.openxmlformats.org/drawingml/2006/main">
              <a:ext uri="{FF2B5EF4-FFF2-40B4-BE49-F238E27FC236}">
                <a16:creationId xmlns:a16="http://schemas.microsoft.com/office/drawing/2014/main" id="{3E53CF70-DD99-47A0-B677-D0E95A9B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개인정보는 MVP에서 브라우저에만 저장 · 운영 버전은 학교 인증과 서버 보안 설계 필요</a:t>
            </a:r>
          </a:p>
        </p:txBody>
      </p:sp>
      <p:sp>
        <p:nvSpPr>
          <p:cNvPr id="19" name="page-6">
            <a:extLst xmlns:a="http://schemas.openxmlformats.org/drawingml/2006/main">
              <a:ext uri="{FF2B5EF4-FFF2-40B4-BE49-F238E27FC236}">
                <a16:creationId xmlns:a16="http://schemas.microsoft.com/office/drawing/2014/main" id="{42C08402-92BC-446C-A0A0-64C915E0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021150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7">
            <a:extLst xmlns:a="http://schemas.openxmlformats.org/drawingml/2006/main">
              <a:ext uri="{FF2B5EF4-FFF2-40B4-BE49-F238E27FC236}">
                <a16:creationId xmlns:a16="http://schemas.microsoft.com/office/drawing/2014/main" id="{B111D85A-36C1-4C6F-AB53-66B67CCC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rPr>
              <a:t>07  ACTIONABLE RECOMMENDATION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F14F0DE2-018E-4F34-968B-FB724552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000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부족한 인증을 실제 프로그램과 연결한다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776156d4140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19250"/>
            <a:ext cx="7239000" cy="4524375"/>
          </a:xfrm>
          <a:prstGeom xmlns:a="http://schemas.openxmlformats.org/drawingml/2006/main" prst="roundRect">
            <a:avLst>
              <a:gd name="adj" fmla="val 2526"/>
            </a:avLst>
          </a:prstGeom>
        </p:spPr>
      </p:pic>
      <p:sp>
        <p:nvSpPr>
          <p:cNvPr id="4" name="matching-title">
            <a:extLst xmlns:a="http://schemas.openxmlformats.org/drawingml/2006/main">
              <a:ext uri="{FF2B5EF4-FFF2-40B4-BE49-F238E27FC236}">
                <a16:creationId xmlns:a16="http://schemas.microsoft.com/office/drawing/2014/main" id="{595A5E01-2554-4F2E-81A6-07749322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00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55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85548"/>
                </a:solidFill>
                <a:latin typeface="Malgun Gothic"/>
                <a:ea typeface="Malgun Gothic"/>
                <a:cs typeface="Malgun Gothic"/>
              </a:rPr>
              <a:t>개인별 매칭 규칙</a:t>
            </a:r>
          </a:p>
        </p:txBody>
      </p:sp>
      <p:sp>
        <p:nvSpPr>
          <p:cNvPr id="5" name="score-0">
            <a:extLst xmlns:a="http://schemas.openxmlformats.org/drawingml/2006/main">
              <a:ext uri="{FF2B5EF4-FFF2-40B4-BE49-F238E27FC236}">
                <a16:creationId xmlns:a16="http://schemas.microsoft.com/office/drawing/2014/main" id="{8847EDDE-1E64-4859-81E2-D5989FAF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0510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rPr>
              <a:t>+70</a:t>
            </a:r>
          </a:p>
        </p:txBody>
      </p:sp>
      <p:sp>
        <p:nvSpPr>
          <p:cNvPr id="6" name="score-label-0">
            <a:extLst xmlns:a="http://schemas.openxmlformats.org/drawingml/2006/main">
              <a:ext uri="{FF2B5EF4-FFF2-40B4-BE49-F238E27FC236}">
                <a16:creationId xmlns:a16="http://schemas.microsoft.com/office/drawing/2014/main" id="{2F0D8964-B72F-4901-9AC3-DBBED7C9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527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미완료 인증과 일치</a:t>
            </a:r>
          </a:p>
        </p:txBody>
      </p:sp>
      <p:sp>
        <p:nvSpPr>
          <p:cNvPr id="7" name="score-1">
            <a:extLst xmlns:a="http://schemas.openxmlformats.org/drawingml/2006/main">
              <a:ext uri="{FF2B5EF4-FFF2-40B4-BE49-F238E27FC236}">
                <a16:creationId xmlns:a16="http://schemas.microsoft.com/office/drawing/2014/main" id="{05AE7EE8-1F7B-4914-8721-9D013A44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6710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rPr>
              <a:t>+15</a:t>
            </a:r>
          </a:p>
        </p:txBody>
      </p:sp>
      <p:sp>
        <p:nvSpPr>
          <p:cNvPr id="8" name="score-label-1">
            <a:extLst xmlns:a="http://schemas.openxmlformats.org/drawingml/2006/main">
              <a:ext uri="{FF2B5EF4-FFF2-40B4-BE49-F238E27FC236}">
                <a16:creationId xmlns:a16="http://schemas.microsoft.com/office/drawing/2014/main" id="{8D069B3F-071A-439D-8AD3-F036D594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147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공식 인정시간 명시</a:t>
            </a:r>
          </a:p>
        </p:txBody>
      </p:sp>
      <p:sp>
        <p:nvSpPr>
          <p:cNvPr id="9" name="score-2">
            <a:extLst xmlns:a="http://schemas.openxmlformats.org/drawingml/2006/main">
              <a:ext uri="{FF2B5EF4-FFF2-40B4-BE49-F238E27FC236}">
                <a16:creationId xmlns:a16="http://schemas.microsoft.com/office/drawing/2014/main" id="{B2AA83B2-28E3-4C9A-88CE-CF3B7AB5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2910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rPr>
              <a:t>+10</a:t>
            </a:r>
          </a:p>
        </p:txBody>
      </p:sp>
      <p:sp>
        <p:nvSpPr>
          <p:cNvPr id="10" name="score-label-2">
            <a:extLst xmlns:a="http://schemas.openxmlformats.org/drawingml/2006/main">
              <a:ext uri="{FF2B5EF4-FFF2-40B4-BE49-F238E27FC236}">
                <a16:creationId xmlns:a16="http://schemas.microsoft.com/office/drawing/2014/main" id="{42F5391F-42B6-404A-AF22-B79B9DE7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767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온라인 참여 가능</a:t>
            </a:r>
          </a:p>
        </p:txBody>
      </p:sp>
      <p:sp>
        <p:nvSpPr>
          <p:cNvPr id="11" name="program-note">
            <a:extLst xmlns:a="http://schemas.openxmlformats.org/drawingml/2006/main">
              <a:ext uri="{FF2B5EF4-FFF2-40B4-BE49-F238E27FC236}">
                <a16:creationId xmlns:a16="http://schemas.microsoft.com/office/drawing/2014/main" id="{E740A201-8479-4E5F-94D5-034EDB37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29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1">
                <a:solidFill>
                  <a:srgbClr val="18554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85548"/>
                </a:solidFill>
                <a:latin typeface="Malgun Gothic"/>
                <a:ea typeface="Malgun Gothic"/>
                <a:cs typeface="Malgun Gothic"/>
              </a:rPr>
              <a:t>추천은 공지를 대신하지 않습니다.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 b="1">
                <a:solidFill>
                  <a:srgbClr val="18554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85548"/>
                </a:solidFill>
                <a:latin typeface="Malgun Gothic"/>
                <a:ea typeface="Malgun Gothic"/>
                <a:cs typeface="Malgun Gothic"/>
              </a:rPr>
              <a:t>신청 상태와 최종 인정은 공식 페이지에서 확인합니다.</a:t>
            </a:r>
          </a:p>
        </p:txBody>
      </p:sp>
      <p:sp>
        <p:nvSpPr>
          <p:cNvPr id="12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9A85AD2A-4273-4CE0-80E9-2465134C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ource-7">
            <a:extLst xmlns:a="http://schemas.openxmlformats.org/drawingml/2006/main">
              <a:ext uri="{FF2B5EF4-FFF2-40B4-BE49-F238E27FC236}">
                <a16:creationId xmlns:a16="http://schemas.microsoft.com/office/drawing/2014/main" id="{329ACFAF-3F82-46AF-A2EC-2D3C7819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출처: 성균관대학교 2026 도전학기 및 비교과 공식 공지 사례</a:t>
            </a:r>
          </a:p>
        </p:txBody>
      </p:sp>
      <p:sp>
        <p:nvSpPr>
          <p:cNvPr id="14" name="page-7">
            <a:extLst xmlns:a="http://schemas.openxmlformats.org/drawingml/2006/main">
              <a:ext uri="{FF2B5EF4-FFF2-40B4-BE49-F238E27FC236}">
                <a16:creationId xmlns:a16="http://schemas.microsoft.com/office/drawing/2014/main" id="{53F37BD1-FD2F-4AF7-8E66-EEA4A881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781912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8">
            <a:extLst xmlns:a="http://schemas.openxmlformats.org/drawingml/2006/main">
              <a:ext uri="{FF2B5EF4-FFF2-40B4-BE49-F238E27FC236}">
                <a16:creationId xmlns:a16="http://schemas.microsoft.com/office/drawing/2014/main" id="{3A1A2453-1B9A-4E16-B94A-C152D318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rPr>
              <a:t>08  WHY GRADQUEST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EF051ED-1D9B-46BD-B903-0D2E3562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000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학점 계산을 넘어 행동까지 이어지는 구조</a:t>
            </a:r>
          </a:p>
        </p:txBody>
      </p:sp>
      <p:sp>
        <p:nvSpPr>
          <p:cNvPr id="3" name="diff-no-0">
            <a:extLst xmlns:a="http://schemas.openxmlformats.org/drawingml/2006/main">
              <a:ext uri="{FF2B5EF4-FFF2-40B4-BE49-F238E27FC236}">
                <a16:creationId xmlns:a16="http://schemas.microsoft.com/office/drawing/2014/main" id="{92E53F60-66A4-4F25-AEE3-A5F1C831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diff-title-0">
            <a:extLst xmlns:a="http://schemas.openxmlformats.org/drawingml/2006/main">
              <a:ext uri="{FF2B5EF4-FFF2-40B4-BE49-F238E27FC236}">
                <a16:creationId xmlns:a16="http://schemas.microsoft.com/office/drawing/2014/main" id="{4BE84D79-B659-4EE0-A9A1-629C6699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95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규칙을 개인화</a:t>
            </a:r>
          </a:p>
        </p:txBody>
      </p:sp>
      <p:sp>
        <p:nvSpPr>
          <p:cNvPr id="5" name="diff-detail-0">
            <a:extLst xmlns:a="http://schemas.openxmlformats.org/drawingml/2006/main">
              <a:ext uri="{FF2B5EF4-FFF2-40B4-BE49-F238E27FC236}">
                <a16:creationId xmlns:a16="http://schemas.microsoft.com/office/drawing/2014/main" id="{1773E702-A69B-410F-BBF9-E27D110A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527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입학연도와 전공 형태를 함께 계산</a:t>
            </a:r>
          </a:p>
        </p:txBody>
      </p:sp>
      <p:sp>
        <p:nvSpPr>
          <p:cNvPr id="6" name="diff-no-1">
            <a:extLst xmlns:a="http://schemas.openxmlformats.org/drawingml/2006/main">
              <a:ext uri="{FF2B5EF4-FFF2-40B4-BE49-F238E27FC236}">
                <a16:creationId xmlns:a16="http://schemas.microsoft.com/office/drawing/2014/main" id="{79E03308-C333-4DD8-8454-898DD921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diff-title-1">
            <a:extLst xmlns:a="http://schemas.openxmlformats.org/drawingml/2006/main">
              <a:ext uri="{FF2B5EF4-FFF2-40B4-BE49-F238E27FC236}">
                <a16:creationId xmlns:a16="http://schemas.microsoft.com/office/drawing/2014/main" id="{E3A3BCE2-D852-47F0-854C-A1940D17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근거를 노출</a:t>
            </a:r>
          </a:p>
        </p:txBody>
      </p:sp>
      <p:sp>
        <p:nvSpPr>
          <p:cNvPr id="8" name="diff-detail-1">
            <a:extLst xmlns:a="http://schemas.openxmlformats.org/drawingml/2006/main">
              <a:ext uri="{FF2B5EF4-FFF2-40B4-BE49-F238E27FC236}">
                <a16:creationId xmlns:a16="http://schemas.microsoft.com/office/drawing/2014/main" id="{F784A998-0E15-4ABE-B0E0-C9495AC4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957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공식 출처와 확인 필요 조건을 표시</a:t>
            </a:r>
          </a:p>
        </p:txBody>
      </p:sp>
      <p:sp>
        <p:nvSpPr>
          <p:cNvPr id="9" name="diff-no-2">
            <a:extLst xmlns:a="http://schemas.openxmlformats.org/drawingml/2006/main">
              <a:ext uri="{FF2B5EF4-FFF2-40B4-BE49-F238E27FC236}">
                <a16:creationId xmlns:a16="http://schemas.microsoft.com/office/drawing/2014/main" id="{053E610F-3932-466A-90A8-5B30F7E7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0" name="diff-title-2">
            <a:extLst xmlns:a="http://schemas.openxmlformats.org/drawingml/2006/main">
              <a:ext uri="{FF2B5EF4-FFF2-40B4-BE49-F238E27FC236}">
                <a16:creationId xmlns:a16="http://schemas.microsoft.com/office/drawing/2014/main" id="{4140EB33-EA0B-414F-A3E5-9AEDEDA4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81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0241F"/>
                </a:solidFill>
                <a:latin typeface="Malgun Gothic"/>
                <a:ea typeface="Malgun Gothic"/>
                <a:cs typeface="Malgun Gothic"/>
              </a:rPr>
              <a:t>행동으로 연결</a:t>
            </a:r>
          </a:p>
        </p:txBody>
      </p:sp>
      <p:sp>
        <p:nvSpPr>
          <p:cNvPr id="11" name="diff-detail-2">
            <a:extLst xmlns:a="http://schemas.openxmlformats.org/drawingml/2006/main">
              <a:ext uri="{FF2B5EF4-FFF2-40B4-BE49-F238E27FC236}">
                <a16:creationId xmlns:a16="http://schemas.microsoft.com/office/drawing/2014/main" id="{FDA732F0-8F9A-401B-A9D3-E46BC288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387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과목·졸업평가·비교과를 다음 계획으로</a:t>
            </a:r>
          </a:p>
        </p:txBody>
      </p:sp>
      <p:sp>
        <p:nvSpPr>
          <p:cNvPr id="12" name="architecture-surface">
            <a:extLst xmlns:a="http://schemas.openxmlformats.org/drawingml/2006/main">
              <a:ext uri="{FF2B5EF4-FFF2-40B4-BE49-F238E27FC236}">
                <a16:creationId xmlns:a16="http://schemas.microsoft.com/office/drawing/2014/main" id="{437A6FF3-F680-4E9C-A444-ECFDDF98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4762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23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B85D8B36-8C25-4DDC-A264-379CAA7E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구현 구조</a:t>
            </a:r>
          </a:p>
        </p:txBody>
      </p:sp>
      <p:sp>
        <p:nvSpPr>
          <p:cNvPr id="14" name="arch-title-0">
            <a:extLst xmlns:a="http://schemas.openxmlformats.org/drawingml/2006/main">
              <a:ext uri="{FF2B5EF4-FFF2-40B4-BE49-F238E27FC236}">
                <a16:creationId xmlns:a16="http://schemas.microsoft.com/office/drawing/2014/main" id="{D55241BF-D40F-453C-9DD7-C3DDEF21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6EAE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D6EAE3"/>
                </a:solidFill>
                <a:latin typeface="Malgun Gothic"/>
                <a:ea typeface="Malgun Gothic"/>
                <a:cs typeface="Malgun Gothic"/>
              </a:rPr>
              <a:t>HTML · CSS · JavaScript</a:t>
            </a:r>
          </a:p>
        </p:txBody>
      </p:sp>
      <p:sp>
        <p:nvSpPr>
          <p:cNvPr id="15" name="arch-detail-0">
            <a:extLst xmlns:a="http://schemas.openxmlformats.org/drawingml/2006/main">
              <a:ext uri="{FF2B5EF4-FFF2-40B4-BE49-F238E27FC236}">
                <a16:creationId xmlns:a16="http://schemas.microsoft.com/office/drawing/2014/main" id="{6C6C7314-9C12-453D-A34C-5506776D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페이지별 분리된 정적 UI</a:t>
            </a:r>
          </a:p>
        </p:txBody>
      </p:sp>
      <p:sp>
        <p:nvSpPr>
          <p:cNvPr id="16" name="arch-arrow-0">
            <a:extLst xmlns:a="http://schemas.openxmlformats.org/drawingml/2006/main">
              <a:ext uri="{FF2B5EF4-FFF2-40B4-BE49-F238E27FC236}">
                <a16:creationId xmlns:a16="http://schemas.microsoft.com/office/drawing/2014/main" id="{7B03BE5F-4258-4B75-8D21-043D2F09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67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17" name="arch-title-1">
            <a:extLst xmlns:a="http://schemas.openxmlformats.org/drawingml/2006/main">
              <a:ext uri="{FF2B5EF4-FFF2-40B4-BE49-F238E27FC236}">
                <a16:creationId xmlns:a16="http://schemas.microsoft.com/office/drawing/2014/main" id="{91D23F7F-15BB-430A-BE83-32C35285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71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6EAE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D6EAE3"/>
                </a:solidFill>
                <a:latin typeface="Malgun Gothic"/>
                <a:ea typeface="Malgun Gothic"/>
                <a:cs typeface="Malgun Gothic"/>
              </a:rPr>
              <a:t>Vercel Serverless</a:t>
            </a:r>
          </a:p>
        </p:txBody>
      </p:sp>
      <p:sp>
        <p:nvSpPr>
          <p:cNvPr id="18" name="arch-detail-1">
            <a:extLst xmlns:a="http://schemas.openxmlformats.org/drawingml/2006/main">
              <a:ext uri="{FF2B5EF4-FFF2-40B4-BE49-F238E27FC236}">
                <a16:creationId xmlns:a16="http://schemas.microsoft.com/office/drawing/2014/main" id="{25E5253D-1518-490C-9B04-77C5BD25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909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API 키를 숨기는 프록시</a:t>
            </a:r>
          </a:p>
        </p:txBody>
      </p:sp>
      <p:sp>
        <p:nvSpPr>
          <p:cNvPr id="19" name="arch-arrow-1">
            <a:extLst xmlns:a="http://schemas.openxmlformats.org/drawingml/2006/main">
              <a:ext uri="{FF2B5EF4-FFF2-40B4-BE49-F238E27FC236}">
                <a16:creationId xmlns:a16="http://schemas.microsoft.com/office/drawing/2014/main" id="{FFD7A259-546E-461F-BF52-5F680D9B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100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20" name="arch-title-2">
            <a:extLst xmlns:a="http://schemas.openxmlformats.org/drawingml/2006/main">
              <a:ext uri="{FF2B5EF4-FFF2-40B4-BE49-F238E27FC236}">
                <a16:creationId xmlns:a16="http://schemas.microsoft.com/office/drawing/2014/main" id="{AA11614E-C6C3-4394-8384-6E55141C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14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6EAE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D6EAE3"/>
                </a:solidFill>
                <a:latin typeface="Malgun Gothic"/>
                <a:ea typeface="Malgun Gothic"/>
                <a:cs typeface="Malgun Gothic"/>
              </a:rPr>
              <a:t>Upstage</a:t>
            </a:r>
          </a:p>
        </p:txBody>
      </p:sp>
      <p:sp>
        <p:nvSpPr>
          <p:cNvPr id="21" name="arch-detail-2">
            <a:extLst xmlns:a="http://schemas.openxmlformats.org/drawingml/2006/main">
              <a:ext uri="{FF2B5EF4-FFF2-40B4-BE49-F238E27FC236}">
                <a16:creationId xmlns:a16="http://schemas.microsoft.com/office/drawing/2014/main" id="{51BFFC99-86AB-4EBE-AEB9-980C99CC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339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Document Parse + Solar</a:t>
            </a:r>
          </a:p>
        </p:txBody>
      </p:sp>
      <p:sp>
        <p:nvSpPr>
          <p:cNvPr id="22" name="deploy-note">
            <a:extLst xmlns:a="http://schemas.openxmlformats.org/drawingml/2006/main">
              <a:ext uri="{FF2B5EF4-FFF2-40B4-BE49-F238E27FC236}">
                <a16:creationId xmlns:a16="http://schemas.microsoft.com/office/drawing/2014/main" id="{A501D598-BC38-4E97-BF83-AC94CEF4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435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554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85548"/>
                </a:solidFill>
                <a:latin typeface="Malgun Gothic"/>
                <a:ea typeface="Malgun Gothic"/>
                <a:cs typeface="Malgun Gothic"/>
              </a:rPr>
              <a:t>GitHub Pages: 정적 기능 데모   ·   Vercel: Upstage API 포함 배포</a:t>
            </a:r>
          </a:p>
        </p:txBody>
      </p:sp>
      <p:sp>
        <p:nvSpPr>
          <p:cNvPr id="23" name="footer-line-8">
            <a:extLst xmlns:a="http://schemas.openxmlformats.org/drawingml/2006/main">
              <a:ext uri="{FF2B5EF4-FFF2-40B4-BE49-F238E27FC236}">
                <a16:creationId xmlns:a16="http://schemas.microsoft.com/office/drawing/2014/main" id="{DB2C06CD-BDAA-4886-A95F-327D60EE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ource-8">
            <a:extLst xmlns:a="http://schemas.openxmlformats.org/drawingml/2006/main">
              <a:ext uri="{FF2B5EF4-FFF2-40B4-BE49-F238E27FC236}">
                <a16:creationId xmlns:a16="http://schemas.microsoft.com/office/drawing/2014/main" id="{D9565A61-A296-42E1-84FB-86C2E064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706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5F706B"/>
                </a:solidFill>
                <a:latin typeface="Malgun Gothic"/>
                <a:ea typeface="Malgun Gothic"/>
                <a:cs typeface="Malgun Gothic"/>
              </a:rPr>
              <a:t>현재 MVP는 localStorage 기반 데모 · 운영 버전에서는 인증·암호화·검수 워크플로 확장</a:t>
            </a:r>
          </a:p>
        </p:txBody>
      </p:sp>
      <p:sp>
        <p:nvSpPr>
          <p:cNvPr id="25" name="page-8">
            <a:extLst xmlns:a="http://schemas.openxmlformats.org/drawingml/2006/main">
              <a:ext uri="{FF2B5EF4-FFF2-40B4-BE49-F238E27FC236}">
                <a16:creationId xmlns:a16="http://schemas.microsoft.com/office/drawing/2014/main" id="{E714FABB-111A-49F6-B0E9-32A31D95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17462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098377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3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D15CA3EE-5EB9-4CD7-855B-06CF6F20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EAE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6EAE3"/>
                </a:solidFill>
                <a:latin typeface="Malgun Gothic"/>
                <a:ea typeface="Malgun Gothic"/>
                <a:cs typeface="Malgun Gothic"/>
              </a:rPr>
              <a:t>GRADQUEST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DBC6E202-2329-445C-BDC8-52469D33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382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졸업요건을 읽는 시간을,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준비하는 시간으로</a:t>
            </a:r>
          </a:p>
        </p:txBody>
      </p:sp>
      <p:sp>
        <p:nvSpPr>
          <p:cNvPr id="3" name="close-subtitle">
            <a:extLst xmlns:a="http://schemas.openxmlformats.org/drawingml/2006/main">
              <a:ext uri="{FF2B5EF4-FFF2-40B4-BE49-F238E27FC236}">
                <a16:creationId xmlns:a16="http://schemas.microsoft.com/office/drawing/2014/main" id="{D9590910-8D79-4327-8D4D-7D89DA70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6EAE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D6EAE3"/>
                </a:solidFill>
                <a:latin typeface="Malgun Gothic"/>
                <a:ea typeface="Malgun Gothic"/>
                <a:cs typeface="Malgun Gothic"/>
              </a:rPr>
              <a:t>흩어진 문서가 개인의 체크리스트와 다음 행동이 되는 순간</a:t>
            </a:r>
          </a:p>
        </p:txBody>
      </p:sp>
      <p:sp>
        <p:nvSpPr>
          <p:cNvPr id="4" name="roadmap-line">
            <a:extLst xmlns:a="http://schemas.openxmlformats.org/drawingml/2006/main">
              <a:ext uri="{FF2B5EF4-FFF2-40B4-BE49-F238E27FC236}">
                <a16:creationId xmlns:a16="http://schemas.microsoft.com/office/drawing/2014/main" id="{BA123620-A751-4115-BE94-052F46C5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4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oadmap-tag-0">
            <a:extLst xmlns:a="http://schemas.openxmlformats.org/drawingml/2006/main">
              <a:ext uri="{FF2B5EF4-FFF2-40B4-BE49-F238E27FC236}">
                <a16:creationId xmlns:a16="http://schemas.microsoft.com/office/drawing/2014/main" id="{E51FE5FB-4DB6-458A-A279-6513C879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rPr>
              <a:t>NOW</a:t>
            </a:r>
          </a:p>
        </p:txBody>
      </p:sp>
      <p:sp>
        <p:nvSpPr>
          <p:cNvPr id="6" name="roadmap-title-0">
            <a:extLst xmlns:a="http://schemas.openxmlformats.org/drawingml/2006/main">
              <a:ext uri="{FF2B5EF4-FFF2-40B4-BE49-F238E27FC236}">
                <a16:creationId xmlns:a16="http://schemas.microsoft.com/office/drawing/2014/main" id="{B02BB0BE-86B2-4D72-8D04-E59A3833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4개 페르소나</a:t>
            </a:r>
          </a:p>
        </p:txBody>
      </p:sp>
      <p:sp>
        <p:nvSpPr>
          <p:cNvPr id="7" name="roadmap-detail-0">
            <a:extLst xmlns:a="http://schemas.openxmlformats.org/drawingml/2006/main">
              <a:ext uri="{FF2B5EF4-FFF2-40B4-BE49-F238E27FC236}">
                <a16:creationId xmlns:a16="http://schemas.microsoft.com/office/drawing/2014/main" id="{25716833-4572-4C72-9ACD-C6A766EF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6EAE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D6EAE3"/>
                </a:solidFill>
                <a:latin typeface="Malgun Gothic"/>
                <a:ea typeface="Malgun Gothic"/>
                <a:cs typeface="Malgun Gothic"/>
              </a:rPr>
              <a:t>진단·조기졸업·비교과</a:t>
            </a:r>
          </a:p>
        </p:txBody>
      </p:sp>
      <p:sp>
        <p:nvSpPr>
          <p:cNvPr id="8" name="roadmap-tag-1">
            <a:extLst xmlns:a="http://schemas.openxmlformats.org/drawingml/2006/main">
              <a:ext uri="{FF2B5EF4-FFF2-40B4-BE49-F238E27FC236}">
                <a16:creationId xmlns:a16="http://schemas.microsoft.com/office/drawing/2014/main" id="{8DBA2AC3-961C-4EFC-AE99-4E1DF8F2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625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rPr>
              <a:t>NEXT</a:t>
            </a:r>
          </a:p>
        </p:txBody>
      </p:sp>
      <p:sp>
        <p:nvSpPr>
          <p:cNvPr id="9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90971E87-F360-44A8-8637-BA8135D8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625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학과 규칙 검수</a:t>
            </a:r>
          </a:p>
        </p:txBody>
      </p:sp>
      <p:sp>
        <p:nvSpPr>
          <p:cNvPr id="10" name="roadmap-detail-1">
            <a:extLst xmlns:a="http://schemas.openxmlformats.org/drawingml/2006/main">
              <a:ext uri="{FF2B5EF4-FFF2-40B4-BE49-F238E27FC236}">
                <a16:creationId xmlns:a16="http://schemas.microsoft.com/office/drawing/2014/main" id="{1F38DEEB-32DD-4078-A52A-D954B750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00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6EAE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D6EAE3"/>
                </a:solidFill>
                <a:latin typeface="Malgun Gothic"/>
                <a:ea typeface="Malgun Gothic"/>
                <a:cs typeface="Malgun Gothic"/>
              </a:rPr>
              <a:t>관리자 승인 워크플로</a:t>
            </a:r>
          </a:p>
        </p:txBody>
      </p:sp>
      <p:sp>
        <p:nvSpPr>
          <p:cNvPr id="11" name="roadmap-tag-2">
            <a:extLst xmlns:a="http://schemas.openxmlformats.org/drawingml/2006/main">
              <a:ext uri="{FF2B5EF4-FFF2-40B4-BE49-F238E27FC236}">
                <a16:creationId xmlns:a16="http://schemas.microsoft.com/office/drawing/2014/main" id="{8A8103C6-94CC-4494-9E33-35B8626C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625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47822"/>
                </a:solidFill>
                <a:latin typeface="Malgun Gothic"/>
                <a:ea typeface="Malgun Gothic"/>
                <a:cs typeface="Malgun Gothic"/>
              </a:rPr>
              <a:t>SCALE</a:t>
            </a:r>
          </a:p>
        </p:txBody>
      </p:sp>
      <p:sp>
        <p:nvSpPr>
          <p:cNvPr id="12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0B6A563B-909C-4CD5-B8D7-136F4765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625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성균관대 전 학과</a:t>
            </a:r>
          </a:p>
        </p:txBody>
      </p:sp>
      <p:sp>
        <p:nvSpPr>
          <p:cNvPr id="13" name="roadmap-detail-2">
            <a:extLst xmlns:a="http://schemas.openxmlformats.org/drawingml/2006/main">
              <a:ext uri="{FF2B5EF4-FFF2-40B4-BE49-F238E27FC236}">
                <a16:creationId xmlns:a16="http://schemas.microsoft.com/office/drawing/2014/main" id="{A6BC7D28-416A-4BBA-8EC6-99F701EF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00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6EAE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D6EAE3"/>
                </a:solidFill>
                <a:latin typeface="Malgun Gothic"/>
                <a:ea typeface="Malgun Gothic"/>
                <a:cs typeface="Malgun Gothic"/>
              </a:rPr>
              <a:t>비교과와 수강 계획 확장</a:t>
            </a:r>
          </a:p>
        </p:txBody>
      </p:sp>
      <p:sp>
        <p:nvSpPr>
          <p:cNvPr id="14" name="close-team">
            <a:extLst xmlns:a="http://schemas.openxmlformats.org/drawingml/2006/main">
              <a:ext uri="{FF2B5EF4-FFF2-40B4-BE49-F238E27FC236}">
                <a16:creationId xmlns:a16="http://schemas.microsoft.com/office/drawing/2014/main" id="{DD87740C-D511-465B-8083-94616831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2865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6EAE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6EAE3"/>
                </a:solidFill>
                <a:latin typeface="Malgun Gothic"/>
                <a:ea typeface="Malgun Gothic"/>
                <a:cs typeface="Malgun Gothic"/>
              </a:rPr>
              <a:t>Team 헌트릭스</a:t>
            </a:r>
          </a:p>
        </p:txBody>
      </p:sp>
    </p:spTree>
    <p:extLst>
      <p:ext uri="{BB962C8B-B14F-4D97-AF65-F5344CB8AC3E}">
        <p14:creationId xmlns:p14="http://schemas.microsoft.com/office/powerpoint/2010/main" val="2296496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2026-07-14T07:07:10.6330000Z</dcterms:created>
  <dcterms:modified xsi:type="dcterms:W3CDTF">2026-07-14T07:07:10.6330000Z</dcterms:modified>
</coreProperties>
</file>