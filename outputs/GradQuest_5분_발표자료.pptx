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dee274ea8b48e8" /><Relationship Type="http://schemas.openxmlformats.org/officeDocument/2006/relationships/extended-properties" Target="/docProps/app.xml" Id="R15ea5afca00f4acd" /><Relationship Type="http://schemas.openxmlformats.org/officeDocument/2006/relationships/officeDocument" Target="/ppt/presentation.xml" Id="Rba1ed596f6a4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94e4fcf9c4b34"/>
  </p:sldMasterIdLst>
  <p:notesMasterIdLst>
    <p:notesMasterId xmlns:r="http://schemas.openxmlformats.org/officeDocument/2006/relationships" r:id="Rf4591f32f72d4f43"/>
  </p:notesMasterIdLst>
  <p:sldIdLst>
    <p:sldId xmlns:r="http://schemas.openxmlformats.org/officeDocument/2006/relationships" id="256" r:id="R5815331862a04ae4"/>
    <p:sldId xmlns:r="http://schemas.openxmlformats.org/officeDocument/2006/relationships" id="257" r:id="R66e42440c5424689"/>
    <p:sldId xmlns:r="http://schemas.openxmlformats.org/officeDocument/2006/relationships" id="258" r:id="R5f812cff3e8b4d68"/>
    <p:sldId xmlns:r="http://schemas.openxmlformats.org/officeDocument/2006/relationships" id="259" r:id="R54f2b083a8d44729"/>
    <p:sldId xmlns:r="http://schemas.openxmlformats.org/officeDocument/2006/relationships" id="260" r:id="Rbf33911c2d8241ff"/>
    <p:sldId xmlns:r="http://schemas.openxmlformats.org/officeDocument/2006/relationships" id="261" r:id="Ra6241246d1914535"/>
    <p:sldId xmlns:r="http://schemas.openxmlformats.org/officeDocument/2006/relationships" id="262" r:id="Ra0bcd51cb54646d9"/>
    <p:sldId xmlns:r="http://schemas.openxmlformats.org/officeDocument/2006/relationships" id="263" r:id="Recc451207ed940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15063eff71481a" /><Relationship Type="http://schemas.openxmlformats.org/officeDocument/2006/relationships/slideMaster" Target="/ppt/slideMasters/slideMaster1.xml" Id="R21c94e4fcf9c4b34" /><Relationship Type="http://schemas.openxmlformats.org/officeDocument/2006/relationships/notesMaster" Target="/ppt/notesMasters/notesMaster1.xml" Id="Rf4591f32f72d4f43" /><Relationship Type="http://schemas.openxmlformats.org/officeDocument/2006/relationships/presProps" Target="/ppt/presProps.xml" Id="R317525ba989e4824" /><Relationship Type="http://schemas.openxmlformats.org/officeDocument/2006/relationships/tableStyles" Target="/ppt/tableStyles.xml" Id="R428f42c7fec84e41" /><Relationship Type="http://schemas.openxmlformats.org/officeDocument/2006/relationships/slide" Target="/ppt/slides/slide1.xml" Id="R5815331862a04ae4" /><Relationship Type="http://schemas.openxmlformats.org/officeDocument/2006/relationships/slide" Target="/ppt/slides/slide2.xml" Id="R66e42440c5424689" /><Relationship Type="http://schemas.openxmlformats.org/officeDocument/2006/relationships/slide" Target="/ppt/slides/slide3.xml" Id="R5f812cff3e8b4d68" /><Relationship Type="http://schemas.openxmlformats.org/officeDocument/2006/relationships/slide" Target="/ppt/slides/slide4.xml" Id="R54f2b083a8d44729" /><Relationship Type="http://schemas.openxmlformats.org/officeDocument/2006/relationships/slide" Target="/ppt/slides/slide5.xml" Id="Rbf33911c2d8241ff" /><Relationship Type="http://schemas.openxmlformats.org/officeDocument/2006/relationships/slide" Target="/ppt/slides/slide6.xml" Id="Ra6241246d1914535" /><Relationship Type="http://schemas.openxmlformats.org/officeDocument/2006/relationships/slide" Target="/ppt/slides/slide7.xml" Id="Ra0bcd51cb54646d9" /><Relationship Type="http://schemas.openxmlformats.org/officeDocument/2006/relationships/slide" Target="/ppt/slides/slide8.xml" Id="Recc451207ed940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b1df4c846142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48465f5cf4ed5" /><Relationship Type="http://schemas.openxmlformats.org/officeDocument/2006/relationships/notesMaster" Target="/ppt/notesMasters/notesMaster1.xml" Id="R1c6199981a3442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15b9119f5d463a" /><Relationship Type="http://schemas.openxmlformats.org/officeDocument/2006/relationships/notesMaster" Target="/ppt/notesMasters/notesMaster1.xml" Id="R313596a1817a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873b71865f4533" /><Relationship Type="http://schemas.openxmlformats.org/officeDocument/2006/relationships/notesMaster" Target="/ppt/notesMasters/notesMaster1.xml" Id="R9c3bc1eb31df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ef09961a04241" /><Relationship Type="http://schemas.openxmlformats.org/officeDocument/2006/relationships/notesMaster" Target="/ppt/notesMasters/notesMaster1.xml" Id="Rce4704497f1a4c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c923ad20594891" /><Relationship Type="http://schemas.openxmlformats.org/officeDocument/2006/relationships/notesMaster" Target="/ppt/notesMasters/notesMaster1.xml" Id="Re42b25214a5a48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f6254af474f8e" /><Relationship Type="http://schemas.openxmlformats.org/officeDocument/2006/relationships/notesMaster" Target="/ppt/notesMasters/notesMaster1.xml" Id="R37c2ef49b73a44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c27c97d58c46ce" /><Relationship Type="http://schemas.openxmlformats.org/officeDocument/2006/relationships/notesMaster" Target="/ppt/notesMasters/notesMaster1.xml" Id="R42a0186ff452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2409d8a0cf4859" /><Relationship Type="http://schemas.openxmlformats.org/officeDocument/2006/relationships/notesMaster" Target="/ppt/notesMasters/notesMaster1.xml" Id="Rc632604cab2e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[0:00-0:20] 안녕하세요, 팀 헌트릭스입니다. 저희는 성균관대학교 학생이 졸업요건을 찾고 해석하는 시간을 줄이는 AI 졸업 내비게이터, GradQuest를 만들었습니다.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[0:20-0:55] 졸업을 확인하려면 학사제도, 학과 공지, GLS, 챌린지스퀘어, PDF 기준표를 따로 봐야 합니다. 정보가 틀린 것이 아니라 흩어져 있고, 마지막 판단이 학생에게 남는 것이 문제입니다.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[0:55-1:30] GradQuest는 프로필과 규칙을 대조해 진행률, 부족한 조건, 다음 행동을 한 화면에 보여줍니다. 이 예시는 소프트웨어학과 2020학번 조기졸업 학생으로, 학과 지정 DS 예외까지 자동 적용했습니다.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[1:30-2:15] GLS나 챌린지스퀘어 이미지를 올리면 Document Parse가 표를 읽습니다. 하지만 결과를 자동 확정하지 않습니다. 사용자가 원문과 행을 비교해 수정하고, 실제 반영할 항목과 인정요건을 선택합니다.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[2:15-2:55] 저장된 값은 요건별 인정내역으로 연결됩니다. 학생은 총학점 122라는 숫자만 보는 것이 아니라, 어떤 과목과 성적으로 채웠는지, 비교과가 어떤 3품에 연결되는지 확인할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[2:55-3:35] 기술적으로는 역할을 분리했습니다. Document Parse는 읽고, 사용자는 확인하고, 규칙 엔진은 계산하고, Solar는 설명합니다. 최종 행정 판정은 GLS와 학교가 기준이라는 점도 화면에 명시합니다.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[3:35-4:15] 기존 학점 계산과 다른 점은 개인화, 근거 추적, 사람 검수, 행동 추천입니다. 동시에 개인정보와 규칙 정확도는 제품의 핵심 리스크로 보고, 운영 전 마스킹과 삭제 정책을 반드시 넣을 계획입니다.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[4:15-4:50] 다음 단계에서는 전 학과를 넓히기보다 실제 문서 테스트와 한 학과의 공식 규칙 검수를 먼저 끝내겠습니다. 학생이 규정을 읽는 데 시간을 쓰지 않고, 졸업을 위해 무엇을 해야 하는지 이해하도록 만드는 것이 GradQuest의 목표입니다.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3a31507ab345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8e498c06a14df4" /><Relationship Type="http://schemas.openxmlformats.org/officeDocument/2006/relationships/slideLayout" Target="/ppt/slideLayouts/slideLayout1.xml" Id="R9436e3ed0e144c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6e3ed0e144c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857c8afcf451e" /><Relationship Type="http://schemas.openxmlformats.org/officeDocument/2006/relationships/image" Target="/ppt/media/image.png" Id="R93f4669b72f44e78" /><Relationship Type="http://schemas.openxmlformats.org/officeDocument/2006/relationships/notesSlide" Target="/ppt/notesSlides/notesSlide1.xml" Id="R8de072a8a3e6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62c4b8a0e4f8b" /><Relationship Type="http://schemas.openxmlformats.org/officeDocument/2006/relationships/notesSlide" Target="/ppt/notesSlides/notesSlide2.xml" Id="Rc8271c93df2d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d0459d9894c36" /><Relationship Type="http://schemas.openxmlformats.org/officeDocument/2006/relationships/image" Target="/ppt/media/image2.png" Id="R9f84bbac721d4a19" /><Relationship Type="http://schemas.openxmlformats.org/officeDocument/2006/relationships/notesSlide" Target="/ppt/notesSlides/notesSlide3.xml" Id="R8df802f57fe44c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bdc9d7c3547dc" /><Relationship Type="http://schemas.openxmlformats.org/officeDocument/2006/relationships/image" Target="/ppt/media/image3.png" Id="Re2eab49c62bb436a" /><Relationship Type="http://schemas.openxmlformats.org/officeDocument/2006/relationships/image" Target="/ppt/media/image4.png" Id="R1e08ad1b3f0048fe" /><Relationship Type="http://schemas.openxmlformats.org/officeDocument/2006/relationships/notesSlide" Target="/ppt/notesSlides/notesSlide4.xml" Id="R29dc29d477dd46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ba1192f2f468b" /><Relationship Type="http://schemas.openxmlformats.org/officeDocument/2006/relationships/image" Target="/ppt/media/image5.png" Id="R278f837fe3754fdd" /><Relationship Type="http://schemas.openxmlformats.org/officeDocument/2006/relationships/notesSlide" Target="/ppt/notesSlides/notesSlide5.xml" Id="R03ed563048f247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ded29a9f5f45a9" /><Relationship Type="http://schemas.openxmlformats.org/officeDocument/2006/relationships/notesSlide" Target="/ppt/notesSlides/notesSlide6.xml" Id="R72e840b4b942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da5f0026d4d63" /><Relationship Type="http://schemas.openxmlformats.org/officeDocument/2006/relationships/notesSlide" Target="/ppt/notesSlides/notesSlide7.xml" Id="Ra9247c40ec8b46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a569aff494091" /><Relationship Type="http://schemas.openxmlformats.org/officeDocument/2006/relationships/notesSlide" Target="/ppt/notesSlides/notesSlide8.xml" Id="Rd20ec350387a4c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4630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4669b72f44e78"/>
          <a:srcRect xmlns:a="http://schemas.openxmlformats.org/drawingml/2006/main" l="9635" t="0" r="96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0"/>
            <a:ext cx="738187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D2CBF-933B-4EEE-AC4D-72EAFAEC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81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4D55F-6FC0-4573-B721-6EE78DFD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44862-FF58-480E-B256-AF5F53A9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E8D9"/>
                </a:solidFill>
              </a:defRPr>
            </a:pPr>
            <a:r>
              <a:rPr sz="975" b="1">
                <a:solidFill>
                  <a:srgbClr val="B9E8D9"/>
                </a:solidFill>
              </a:rPr>
              <a:t>AI DOCUMENT BUILDERS CHALLENGE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F6BFB-7A02-470F-9B69-43D464CA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GradQuest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6A8BE-4CB5-49EE-8C04-4666ABB3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졸업요건을</a:t>
            </a:r>
          </a:p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근거 있는 다음 행동으로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0ED94-4C29-4D13-868E-E762BF64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7DDEF"/>
                </a:solidFill>
              </a:defRPr>
            </a:pPr>
            <a:r>
              <a:rPr sz="1125">
                <a:solidFill>
                  <a:srgbClr val="E7DDEF"/>
                </a:solidFill>
              </a:rPr>
              <a:t>팀 헌트릭스  |  유경배 · 구은진 · 양성경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CF1AD-9FC5-4AC4-9A0F-4EAB316F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778B3"/>
                </a:solidFill>
              </a:defRPr>
            </a:pPr>
            <a:r>
              <a:rPr sz="1200" b="1">
                <a:solidFill>
                  <a:srgbClr val="D778B3"/>
                </a:solidFill>
              </a:rPr>
              <a:t>성균관대학교 졸업요건 AI 내비게이터</a:t>
            </a:r>
          </a:p>
        </p:txBody>
      </p:sp>
    </p:spTree>
    <p:extLst>
      <p:ext uri="{BB962C8B-B14F-4D97-AF65-F5344CB8AC3E}">
        <p14:creationId xmlns:p14="http://schemas.microsoft.com/office/powerpoint/2010/main" val="250158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80B4E-C292-4DBC-A642-3D348E6D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0AB31-5E5B-42D9-A74C-E4FEA19A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ADC27-F592-4FBE-8F0F-93767393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BA1B-4C0A-49E1-81F2-D7306C0F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규정은 흩어지고, 판단은 학생에게 남습니다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A0C06-5DED-4B77-BD82-6157508B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같은 학생도 입학연도와 전공 형태에 따라 확인해야 할 기준이 달라집니다.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849F0-AE60-4AFF-8F28-B6BB1ED9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99A77-4D8A-4313-BBBF-8150F4CC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90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학사제도·학칙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89B67-228C-4C35-87BF-5B357824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98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E7F2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A003E-B375-4C5A-BC67-A47B2F6D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9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학과별 공지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64E2FC-3F83-457F-825B-02353477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241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AF4FE-9446-4103-A8A7-90E44697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24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GLS 성적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45F9E9-BE05-49FB-AC9A-C2D9031F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8E7F2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5AF80-F995-4C1C-BD74-901DD8AC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66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챌린지스퀘어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8BB5-3AA7-4EE8-AEA1-703E98E6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66700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B54E1-5AFF-4A48-96FD-A05445B9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670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PDF 기준표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EBE4BD-CB2F-4992-9A76-DAE646C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778B3"/>
                </a:solidFill>
              </a:defRPr>
            </a:pPr>
            <a:r>
              <a:rPr sz="2550" b="1">
                <a:solidFill>
                  <a:srgbClr val="D778B3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47BCBB-AC97-4B4F-B4C6-A39801F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81500"/>
            <a:ext cx="563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63052"/>
                </a:solidFill>
              </a:defRPr>
            </a:pPr>
            <a:r>
              <a:rPr sz="2550" b="1">
                <a:solidFill>
                  <a:srgbClr val="463052"/>
                </a:solidFill>
              </a:rPr>
              <a:t>나는 졸업할 수 있는가?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D7C97-D87C-4D1F-BF34-8DF42B4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2197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D6572"/>
                </a:solidFill>
              </a:defRPr>
            </a:pPr>
            <a:r>
              <a:rPr sz="1500">
                <a:solidFill>
                  <a:srgbClr val="6D6572"/>
                </a:solidFill>
              </a:rPr>
              <a:t>정보가 없는 것이 아니라, 서로 연결되어 있지 않은 것이 문제입니다.</a:t>
            </a:r>
          </a:p>
        </p:txBody>
      </p:sp>
    </p:spTree>
    <p:extLst>
      <p:ext uri="{BB962C8B-B14F-4D97-AF65-F5344CB8AC3E}">
        <p14:creationId xmlns:p14="http://schemas.microsoft.com/office/powerpoint/2010/main" val="1185062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2AB1B-FDF3-4F2B-91DB-A57BF28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4EF28-DC92-4D06-8ACA-C64EE124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F7E05-B50E-432D-82F9-C20D75A8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72777-3927-47EF-B6CB-5B8F207F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GradQuest는 ‘부족한 조건’보다 ‘다음 행동’을 먼저 보여줍니다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04FD0-711A-423B-A416-930B5426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입학연도·학과·전공 형태·조기졸업 여부를 반영한 개인별 진단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5A011-D767-47B2-90D7-39FB264A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62300" cy="4000500"/>
          </a:xfrm>
          <a:prstGeom xmlns:a="http://schemas.openxmlformats.org/drawingml/2006/main" prst="roundRect">
            <a:avLst>
              <a:gd name="adj" fmla="val 1807"/>
            </a:avLst>
          </a:prstGeom>
          <a:solidFill xmlns:a="http://schemas.openxmlformats.org/drawingml/2006/main">
            <a:srgbClr val="46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E8770-6043-4793-84EC-B2BE62F4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E8D9"/>
                </a:solidFill>
              </a:defRPr>
            </a:pPr>
            <a:r>
              <a:rPr sz="1050" b="1">
                <a:solidFill>
                  <a:srgbClr val="B9E8D9"/>
                </a:solidFill>
              </a:rPr>
              <a:t>현재 상태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10769-FA07-45BE-8E17-7C5E220F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93%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095EB-1076-4547-A422-6C555219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00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E5D9EA"/>
                </a:solidFill>
              </a:defRPr>
            </a:pPr>
            <a:r>
              <a:rPr sz="1275">
                <a:solidFill>
                  <a:srgbClr val="E5D9EA"/>
                </a:solidFill>
              </a:rPr>
              <a:t>전체 진행률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5D99DC-973D-4526-BABF-DBBE7757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2266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총학점 8학점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제1전공 6학점</a:t>
            </a:r>
          </a:p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졸업평가 2단계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F787C-189C-42A2-9864-B27FA4E4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778B3"/>
                </a:solidFill>
              </a:defRPr>
            </a:pPr>
            <a:r>
              <a:rPr sz="1125">
                <a:solidFill>
                  <a:srgbClr val="D778B3"/>
                </a:solidFill>
              </a:rPr>
              <a:t>부족한 이유와 우선 행동까지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4bbac721d4a19"/>
          <a:srcRect xmlns:a="http://schemas.openxmlformats.org/drawingml/2006/main" l="0" t="11330" r="0" b="11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14800" y="2076450"/>
            <a:ext cx="744855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8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92F5DD-CACC-4EF4-997C-66E27B37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7050-43C7-4B49-BFA9-CC4D754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DOCUMENT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D9209-65EB-4EDB-90C8-E4D1FA09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97338-8037-48C5-B0DA-6798347B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AI가 읽고, 사용자가 확인한 값만 졸업요건에 반영합니다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2EA02-A668-48A8-AACF-AF9CAC24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자동 판정이 아니라 검토 가능한 반자동 문서 처리 흐름입니다.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A6729-83D9-4B73-8AA9-C2E67713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C4B8A"/>
                </a:solidFill>
              </a:defRPr>
            </a:pPr>
            <a:r>
              <a:rPr sz="1350" b="1">
                <a:solidFill>
                  <a:srgbClr val="6C4B8A"/>
                </a:solidFill>
              </a:rPr>
              <a:t>01  이미지 등록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282C8-BC7C-4355-9DE2-BD08809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78B3"/>
                </a:solidFill>
              </a:defRPr>
            </a:pPr>
            <a:r>
              <a:rPr sz="1350" b="1">
                <a:solidFill>
                  <a:srgbClr val="D778B3"/>
                </a:solidFill>
              </a:rPr>
              <a:t>02  인식 결과 검토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ab49c62bb436a"/>
          <a:srcRect xmlns:a="http://schemas.openxmlformats.org/drawingml/2006/main" l="0" t="5589" r="0" b="55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476500"/>
            <a:ext cx="5095875" cy="3143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8ad1b3f0048fe"/>
          <a:srcRect xmlns:a="http://schemas.openxmlformats.org/drawingml/2006/main" l="0" t="6404" r="0" b="64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2476500"/>
            <a:ext cx="5191125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603DD-0346-4F89-AD67-27A477F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GLS·챌린지스퀘어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52B2C-60CB-4AEE-A0A8-78FD8DB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81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수정 · 제외 · 요건 분류</a:t>
            </a:r>
          </a:p>
        </p:txBody>
      </p:sp>
    </p:spTree>
    <p:extLst>
      <p:ext uri="{BB962C8B-B14F-4D97-AF65-F5344CB8AC3E}">
        <p14:creationId xmlns:p14="http://schemas.microsoft.com/office/powerpoint/2010/main" val="702839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6FCEF-6348-4E79-BFB1-FBFB785C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3A53B-90D3-4454-9BC6-F3E50E2E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DFD98-7A51-42F2-A6B2-AC9DB9B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43F6C-DEEF-4FA8-A9BB-A4F3C0DE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학점 숫자 뒤에 있는 ‘실제 이수 근거’를 확인할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D55F8-0265-43B9-879A-88AA4F22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교과목·성적·비교과 프로그램을 졸업요건별로 연결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f837fe3754fdd"/>
          <a:srcRect xmlns:a="http://schemas.openxmlformats.org/drawingml/2006/main" l="0" t="27774" r="0" b="27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038350"/>
            <a:ext cx="10953750" cy="3381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04C91-3AB3-4007-A946-3FB47C43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C4B8A"/>
                </a:solidFill>
              </a:defRPr>
            </a:pPr>
            <a:r>
              <a:rPr sz="2850" b="1">
                <a:solidFill>
                  <a:srgbClr val="6C4B8A"/>
                </a:solidFill>
              </a:rPr>
              <a:t>5개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8A9CF-0E05-41AB-AE59-0DB6DF7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572"/>
                </a:solidFill>
              </a:defRPr>
            </a:pPr>
            <a:r>
              <a:rPr sz="1125" b="1">
                <a:solidFill>
                  <a:srgbClr val="6D6572"/>
                </a:solidFill>
              </a:rPr>
              <a:t>GLS 교과목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27BA1-B94F-44CD-846E-C5456179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38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C4B8A"/>
                </a:solidFill>
              </a:defRPr>
            </a:pPr>
            <a:r>
              <a:rPr sz="2850" b="1">
                <a:solidFill>
                  <a:srgbClr val="6C4B8A"/>
                </a:solidFill>
              </a:rPr>
              <a:t>15학점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CD9A1-1D7D-46DB-98B8-DD1D477D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572"/>
                </a:solidFill>
              </a:defRPr>
            </a:pPr>
            <a:r>
              <a:rPr sz="1125" b="1">
                <a:solidFill>
                  <a:srgbClr val="6D6572"/>
                </a:solidFill>
              </a:rPr>
              <a:t>연결된 교과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8DB4E-853B-4B65-B9C2-19177E0E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388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778B3"/>
                </a:solidFill>
              </a:defRPr>
            </a:pPr>
            <a:r>
              <a:rPr sz="2850" b="1">
                <a:solidFill>
                  <a:srgbClr val="D778B3"/>
                </a:solidFill>
              </a:rPr>
              <a:t>3건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A800D-0E18-42D5-ACA1-093465F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91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D6572"/>
                </a:solidFill>
              </a:defRPr>
            </a:pPr>
            <a:r>
              <a:rPr sz="1125" b="1">
                <a:solidFill>
                  <a:srgbClr val="6D6572"/>
                </a:solidFill>
              </a:rPr>
              <a:t>비교과 이수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85459-1406-470C-B4F4-D730C134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7816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63052"/>
                </a:solidFill>
              </a:defRPr>
            </a:pPr>
            <a:r>
              <a:rPr sz="1275" b="1">
                <a:solidFill>
                  <a:srgbClr val="463052"/>
                </a:solidFill>
              </a:rPr>
              <a:t>같은 과목이 총학점·전공·DS 등 여러 요건에 함께 인정됩니다.</a:t>
            </a:r>
          </a:p>
        </p:txBody>
      </p:sp>
    </p:spTree>
    <p:extLst>
      <p:ext uri="{BB962C8B-B14F-4D97-AF65-F5344CB8AC3E}">
        <p14:creationId xmlns:p14="http://schemas.microsoft.com/office/powerpoint/2010/main" val="6907783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D4ED8B-6123-4F13-918A-A422547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06B5C-D335-4292-8857-DB856D17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26998-1803-4E1F-A98B-48C556FF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401FC-35C3-486D-8AA1-2D9D0758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Document Parse·규칙 엔진·Solar의 책임을 분리했습니다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800BA-A810-4189-8877-3C0C9B5D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AI의 역할을 나누고 사람 검수를 사이에 둬 오판 위험을 줄입니다.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97C1F-5A5F-4478-80A3-E87B3EBD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147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49EFD-061A-464F-928D-03B4158D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3147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CA7C2-0B76-4484-82B1-F833A869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147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DAD39-2297-44F8-927B-85FB573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1470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1C133-02CA-47D3-9E36-AA39F108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18859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A4AA9-F5B2-4AD1-BF46-1150726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3052"/>
                </a:solidFill>
              </a:defRPr>
            </a:pPr>
            <a:r>
              <a:rPr sz="1500" b="1">
                <a:solidFill>
                  <a:srgbClr val="463052"/>
                </a:solidFill>
              </a:rPr>
              <a:t>입력 문서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F445E-2C2F-438D-B286-18BC769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GLS · 챌린지스퀘어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7CDD7-EB0E-420E-88F2-262C857F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628900"/>
            <a:ext cx="18859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7F2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8E662-5CDA-44FB-BB45-A518F441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3052"/>
                </a:solidFill>
              </a:defRPr>
            </a:pPr>
            <a:r>
              <a:rPr sz="1500" b="1">
                <a:solidFill>
                  <a:srgbClr val="463052"/>
                </a:solidFill>
              </a:rPr>
              <a:t>Document Parse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FF53D-7F01-495E-B22F-43743987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861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표·텍스트 추출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82209-A789-4539-BFC2-EEEF612F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28900"/>
            <a:ext cx="18859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D05E35-D6A3-4F89-9BD3-43D4B174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3052"/>
                </a:solidFill>
              </a:defRPr>
            </a:pPr>
            <a:r>
              <a:rPr sz="1500" b="1">
                <a:solidFill>
                  <a:srgbClr val="463052"/>
                </a:solidFill>
              </a:rPr>
              <a:t>사용자 검토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E829F-7934-454D-B06A-5088E53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861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수정 · 제외 · 분류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0D997-B47C-4715-A9C3-E658FF39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628900"/>
            <a:ext cx="18859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E7F2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24904-6D60-487E-84D4-D96CACE6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3052"/>
                </a:solidFill>
              </a:defRPr>
            </a:pPr>
            <a:r>
              <a:rPr sz="1500" b="1">
                <a:solidFill>
                  <a:srgbClr val="463052"/>
                </a:solidFill>
              </a:rPr>
              <a:t>규칙 엔진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6B285-DE35-4091-B57D-16336301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4861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개인별 판정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F4909-3F66-4DC0-8243-5C59BED0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28900"/>
            <a:ext cx="188595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E6F5"/>
          </a:solidFill>
          <a:ln xmlns:a="http://schemas.openxmlformats.org/drawingml/2006/main" w="9525">
            <a:solidFill>
              <a:srgbClr val="DCCF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F24A7-5BCE-4724-A5C2-07FDEB3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527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63052"/>
                </a:solidFill>
              </a:defRPr>
            </a:pPr>
            <a:r>
              <a:rPr sz="1500" b="1">
                <a:solidFill>
                  <a:srgbClr val="463052"/>
                </a:solidFill>
              </a:rPr>
              <a:t>Solar Q&amp;A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0F802-7A22-46BC-91C4-B31EBB86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86150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근거 기반 설명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B567A-F622-4A35-9D67-E9748B9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7239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46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0028F-5C31-45CB-AA03-60D1BB08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최종 판정은 GLS와 공식 학사제도가 기준이며, GradQuest는 탐색·준비를 돕습니다.</a:t>
            </a:r>
          </a:p>
        </p:txBody>
      </p:sp>
    </p:spTree>
    <p:extLst>
      <p:ext uri="{BB962C8B-B14F-4D97-AF65-F5344CB8AC3E}">
        <p14:creationId xmlns:p14="http://schemas.microsoft.com/office/powerpoint/2010/main" val="1822093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D380D6-3361-4FFA-921E-50AB307F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215E9D-AF20-43D6-9027-7C14F297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C4B8A"/>
                </a:solidFill>
              </a:defRPr>
            </a:pPr>
            <a:r>
              <a:rPr sz="900" b="1">
                <a:solidFill>
                  <a:srgbClr val="6C4B8A"/>
                </a:solidFill>
              </a:rPr>
              <a:t>GRADQUEST  /  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07846-7B66-4836-AA0B-840AEACB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476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D6572"/>
                </a:solidFill>
              </a:defRPr>
            </a:pPr>
            <a:r>
              <a:rPr sz="900" b="1">
                <a:solidFill>
                  <a:srgbClr val="6D65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C0F74-69B2-45ED-BD9A-94C7E2D1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048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463052"/>
                </a:solidFill>
              </a:defRPr>
            </a:pPr>
            <a:r>
              <a:rPr sz="2700" b="1">
                <a:solidFill>
                  <a:srgbClr val="463052"/>
                </a:solidFill>
              </a:rPr>
              <a:t>단순 학점 계산기가 아니라, 근거를 추적하는 졸업 준비 도구입니다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9B4B3-CFA6-4DCB-9649-CF368996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6572"/>
                </a:solidFill>
              </a:defRPr>
            </a:pPr>
            <a:r>
              <a:rPr sz="1350">
                <a:solidFill>
                  <a:srgbClr val="6D6572"/>
                </a:solidFill>
              </a:rPr>
              <a:t>차별점은 기능 수가 아니라 신뢰 가능한 연결 구조에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61B1D-FDFF-438A-BE9E-07C3176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4B8A"/>
                </a:solidFill>
              </a:defRPr>
            </a:pPr>
            <a:r>
              <a:rPr sz="1800" b="1">
                <a:solidFill>
                  <a:srgbClr val="6C4B8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63039-94B7-4DBB-9746-00F0BD89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3052"/>
                </a:solidFill>
              </a:defRPr>
            </a:pPr>
            <a:r>
              <a:rPr sz="1725" b="1">
                <a:solidFill>
                  <a:srgbClr val="463052"/>
                </a:solidFill>
              </a:rPr>
              <a:t>개인화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045BB3-E6D2-451E-B37B-3ABB0AF2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입학연도·학과·전공 형태·조기졸업 예외를 함께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BEDF1-A889-4657-98B6-90596266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84DC3-9967-416B-BB85-9511E20F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778B3"/>
                </a:solidFill>
              </a:defRPr>
            </a:pPr>
            <a:r>
              <a:rPr sz="1800" b="1">
                <a:solidFill>
                  <a:srgbClr val="D778B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2C905-45E5-4651-8741-F6A0D413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24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3052"/>
                </a:solidFill>
              </a:defRPr>
            </a:pPr>
            <a:r>
              <a:rPr sz="1725" b="1">
                <a:solidFill>
                  <a:srgbClr val="463052"/>
                </a:solidFill>
              </a:rPr>
              <a:t>근거 추적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59639-D31E-4967-9C4C-1884FCBE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052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각 요건에 실제 교과목·성적·비교과·출처를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78DA6-5B52-4117-9C8C-BD739F1F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98D28-EA34-498E-A77F-F6B668C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C4B8A"/>
                </a:solidFill>
              </a:defRPr>
            </a:pPr>
            <a:r>
              <a:rPr sz="1800" b="1">
                <a:solidFill>
                  <a:srgbClr val="6C4B8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FFF69-8D4E-44C8-B1CD-79422B81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3052"/>
                </a:solidFill>
              </a:defRPr>
            </a:pPr>
            <a:r>
              <a:rPr sz="1725" b="1">
                <a:solidFill>
                  <a:srgbClr val="463052"/>
                </a:solidFill>
              </a:rPr>
              <a:t>Human in the 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30A254-C868-45D3-A4D5-A43C05E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AI 인식값을 자동 확정하지 않고 사용자가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A9291-BA34-41F1-A233-173F3DBC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863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D58992-5EF3-4BE2-BF14-A1977E65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778B3"/>
                </a:solidFill>
              </a:defRPr>
            </a:pPr>
            <a:r>
              <a:rPr sz="1800" b="1">
                <a:solidFill>
                  <a:srgbClr val="D778B3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8D340-9056-4B7A-B5B6-9DE6B122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63052"/>
                </a:solidFill>
              </a:defRPr>
            </a:pPr>
            <a:r>
              <a:rPr sz="1725" b="1">
                <a:solidFill>
                  <a:srgbClr val="463052"/>
                </a:solidFill>
              </a:rPr>
              <a:t>행동 추천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BC0CC-3541-4A52-8025-6F58B12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483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D6572"/>
                </a:solidFill>
              </a:defRPr>
            </a:pPr>
            <a:r>
              <a:rPr sz="1200">
                <a:solidFill>
                  <a:srgbClr val="6D6572"/>
                </a:solidFill>
              </a:rPr>
              <a:t>부족량에서 끝나지 않고 다음 학기 우선 행동을 제시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3DB01D-FD1E-47C3-B452-E7764859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BA5FD-302E-44CA-955B-525FD174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4762500" cy="3943350"/>
          </a:xfrm>
          <a:prstGeom xmlns:a="http://schemas.openxmlformats.org/drawingml/2006/main" prst="roundRect">
            <a:avLst>
              <a:gd name="adj" fmla="val 1449"/>
            </a:avLst>
          </a:prstGeom>
          <a:solidFill xmlns:a="http://schemas.openxmlformats.org/drawingml/2006/main">
            <a:srgbClr val="463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D4D8F9-22A8-4040-9D04-E7C6DAA9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9E8D9"/>
                </a:solidFill>
              </a:defRPr>
            </a:pPr>
            <a:r>
              <a:rPr sz="1200" b="1">
                <a:solidFill>
                  <a:srgbClr val="B9E8D9"/>
                </a:solidFill>
              </a:rPr>
              <a:t>운영 전 반드시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2E232-703E-4DCE-953D-84790233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공식 규칙 검수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개인정보 마스킹</a:t>
            </a:r>
          </a:p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서버 미보관·삭제 정책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E5A3CB-8D7C-43FC-AC76-A7C61BA8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958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E8DDEA"/>
                </a:solidFill>
              </a:defRPr>
            </a:pPr>
            <a:r>
              <a:rPr sz="1200">
                <a:solidFill>
                  <a:srgbClr val="E8DDEA"/>
                </a:solidFill>
              </a:rPr>
              <a:t>MVP는 샘플 데이터 중심이며, 실제 성적표는 공개 데모에 사용하지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4633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4630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9F7E2-88DC-4AFB-A233-72FB2217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8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569DB-74B3-4211-9F27-7C5F3857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E8D9"/>
                </a:solidFill>
              </a:defRPr>
            </a:pPr>
            <a:r>
              <a:rPr sz="975" b="1">
                <a:solidFill>
                  <a:srgbClr val="B9E8D9"/>
                </a:solidFill>
              </a:rPr>
              <a:t>NEXT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790FE-013B-44C2-ACE7-10A89EB2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723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전 학과 확장보다 먼저,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한 학과의 정확도를 증명하겠습니다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51B1A-F77B-468E-A56E-91F12672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78B3"/>
                </a:solidFill>
              </a:defRPr>
            </a:pPr>
            <a:r>
              <a:rPr sz="1350" b="1">
                <a:solidFill>
                  <a:srgbClr val="D778B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8793C-14FF-4BD5-8B3A-505530A7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실제 문서 테스트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9E20A-19D0-4D93-94B8-032A42EB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ED1E4"/>
                </a:solidFill>
              </a:defRPr>
            </a:pPr>
            <a:r>
              <a:rPr sz="1200">
                <a:solidFill>
                  <a:srgbClr val="DED1E4"/>
                </a:solidFill>
              </a:rPr>
              <a:t>GLS·챌린지스퀘어 양식별 필드 정확도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73048-6E06-40C5-9758-14D5D70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71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78B3"/>
                </a:solidFill>
              </a:defRPr>
            </a:pPr>
            <a:r>
              <a:rPr sz="1350" b="1">
                <a:solidFill>
                  <a:srgbClr val="D778B3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F2551-7E4E-4648-9E08-F62D6E1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90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공식 규칙 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F5361-CA17-43EB-A9A0-5A17986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386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ED1E4"/>
                </a:solidFill>
              </a:defRPr>
            </a:pPr>
            <a:r>
              <a:rPr sz="1200">
                <a:solidFill>
                  <a:srgbClr val="DED1E4"/>
                </a:solidFill>
              </a:rPr>
              <a:t>적용연도·원문·검수자 버전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E6059-DCE4-488A-8F56-92EE57BD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71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778B3"/>
                </a:solidFill>
              </a:defRPr>
            </a:pPr>
            <a:r>
              <a:rPr sz="1350" b="1">
                <a:solidFill>
                  <a:srgbClr val="D778B3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D5ED2-420F-4494-97A1-1BE3EE32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90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근거형 Solar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0CF8C-5634-438F-AE1F-73FDA88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3862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ED1E4"/>
                </a:solidFill>
              </a:defRPr>
            </a:pPr>
            <a:r>
              <a:rPr sz="1200">
                <a:solidFill>
                  <a:srgbClr val="DED1E4"/>
                </a:solidFill>
              </a:rPr>
              <a:t>답변마다 사용 규칙과 출처 표시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ED915-A950-42A9-9F57-CCD0848C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E8D9"/>
                </a:solidFill>
              </a:defRPr>
            </a:pPr>
            <a:r>
              <a:rPr sz="1650" b="1">
                <a:solidFill>
                  <a:srgbClr val="B9E8D9"/>
                </a:solidFill>
              </a:rPr>
              <a:t>학생이 규정을 읽는 데 시간을 쓰지 않고, 졸업을 위해 무엇을 해야 하는지 이해하도록.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25780-919C-49FA-B75B-21F3A3D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198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778B3"/>
                </a:solidFill>
              </a:defRPr>
            </a:pPr>
            <a:r>
              <a:rPr sz="1050">
                <a:solidFill>
                  <a:srgbClr val="D778B3"/>
                </a:solidFill>
              </a:rPr>
              <a:t>GradQuest  |  팀 헌트릭스</a:t>
            </a:r>
          </a:p>
        </p:txBody>
      </p:sp>
    </p:spTree>
    <p:extLst>
      <p:ext uri="{BB962C8B-B14F-4D97-AF65-F5344CB8AC3E}">
        <p14:creationId xmlns:p14="http://schemas.microsoft.com/office/powerpoint/2010/main" val="1099400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2026-07-14T16:01:47.1530000Z</dcterms:created>
  <dcterms:modified xsi:type="dcterms:W3CDTF">2026-07-14T16:01:47.1550000Z</dcterms:modified>
</coreProperties>
</file>